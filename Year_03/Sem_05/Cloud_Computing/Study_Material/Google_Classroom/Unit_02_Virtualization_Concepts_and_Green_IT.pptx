
<file path=[Content_Types].xml><?xml version="1.0" encoding="utf-8"?>
<Types xmlns="http://schemas.openxmlformats.org/package/2006/content-types">
  <Default Extension="xml" ContentType="application/xml"/>
  <Default Extension="jpeg" ContentType="image/jpeg"/>
  <Default Extension="tiff" ContentType="image/tiff"/>
  <Default Extension="rels" ContentType="application/vnd.openxmlformats-package.relationships+xml"/>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embeddings/oleObject1.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4"/>
  </p:notesMasterIdLst>
  <p:sldIdLst>
    <p:sldId id="256" r:id="rId2"/>
    <p:sldId id="257" r:id="rId3"/>
    <p:sldId id="258" r:id="rId4"/>
    <p:sldId id="261" r:id="rId5"/>
    <p:sldId id="296" r:id="rId6"/>
    <p:sldId id="289" r:id="rId7"/>
    <p:sldId id="290" r:id="rId8"/>
    <p:sldId id="260" r:id="rId9"/>
    <p:sldId id="263" r:id="rId10"/>
    <p:sldId id="264" r:id="rId11"/>
    <p:sldId id="292" r:id="rId12"/>
    <p:sldId id="265" r:id="rId13"/>
    <p:sldId id="293" r:id="rId14"/>
    <p:sldId id="294" r:id="rId15"/>
    <p:sldId id="266" r:id="rId16"/>
    <p:sldId id="267" r:id="rId17"/>
    <p:sldId id="268" r:id="rId18"/>
    <p:sldId id="269" r:id="rId19"/>
    <p:sldId id="270" r:id="rId20"/>
    <p:sldId id="295" r:id="rId21"/>
    <p:sldId id="271" r:id="rId22"/>
    <p:sldId id="272" r:id="rId23"/>
    <p:sldId id="273" r:id="rId24"/>
    <p:sldId id="297" r:id="rId25"/>
    <p:sldId id="275" r:id="rId26"/>
    <p:sldId id="277" r:id="rId27"/>
    <p:sldId id="278" r:id="rId28"/>
    <p:sldId id="279" r:id="rId29"/>
    <p:sldId id="298" r:id="rId30"/>
    <p:sldId id="299" r:id="rId31"/>
    <p:sldId id="300" r:id="rId32"/>
    <p:sldId id="301" r:id="rId33"/>
    <p:sldId id="280" r:id="rId34"/>
    <p:sldId id="281" r:id="rId35"/>
    <p:sldId id="283" r:id="rId36"/>
    <p:sldId id="284" r:id="rId37"/>
    <p:sldId id="285" r:id="rId38"/>
    <p:sldId id="286" r:id="rId39"/>
    <p:sldId id="287" r:id="rId40"/>
    <p:sldId id="288" r:id="rId41"/>
    <p:sldId id="302" r:id="rId42"/>
    <p:sldId id="303"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528"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interSettings" Target="printerSettings/printerSettings1.bin"/></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D49543-3C5D-8B4C-B192-C653453679C1}" type="datetimeFigureOut">
              <a:rPr lang="en-US" smtClean="0"/>
              <a:t>27/08/16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430F81-DC27-E74C-AFC2-0962A7C5F7B9}" type="slidenum">
              <a:rPr lang="en-US" smtClean="0"/>
              <a:t>‹#›</a:t>
            </a:fld>
            <a:endParaRPr lang="en-US"/>
          </a:p>
        </p:txBody>
      </p:sp>
    </p:spTree>
    <p:extLst>
      <p:ext uri="{BB962C8B-B14F-4D97-AF65-F5344CB8AC3E}">
        <p14:creationId xmlns:p14="http://schemas.microsoft.com/office/powerpoint/2010/main" val="37197804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6B4C979D-A2AB-C84E-B58E-F08A921065AE}" type="slidenum">
              <a:rPr lang="en-US" sz="1200"/>
              <a:pPr eaLnBrk="1" hangingPunct="1"/>
              <a:t>13</a:t>
            </a:fld>
            <a:endParaRPr lang="en-US" sz="1200"/>
          </a:p>
        </p:txBody>
      </p:sp>
      <p:sp>
        <p:nvSpPr>
          <p:cNvPr id="29699" name="Rectangle 1"/>
          <p:cNvSpPr>
            <a:spLocks noGrp="1" noRot="1" noChangeAspect="1" noChangeArrowheads="1" noTextEdit="1"/>
          </p:cNvSpPr>
          <p:nvPr>
            <p:ph type="sldImg"/>
          </p:nvPr>
        </p:nvSpPr>
        <p:spPr>
          <a:ln/>
        </p:spPr>
      </p:sp>
      <p:sp>
        <p:nvSpPr>
          <p:cNvPr id="29700"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lnSpc>
                <a:spcPct val="95000"/>
              </a:lnSpc>
              <a:spcBef>
                <a:spcPct val="0"/>
              </a:spcBef>
            </a:pPr>
            <a:r>
              <a:rPr lang="en-US" sz="1600">
                <a:solidFill>
                  <a:srgbClr val="000000"/>
                </a:solidFill>
                <a:latin typeface="Arial" charset="0"/>
              </a:rPr>
              <a:t>Better define PUE in plain language</a:t>
            </a:r>
            <a:endParaRPr lang="en-US">
              <a:latin typeface="Times New Roman" charset="0"/>
            </a:endParaRPr>
          </a:p>
          <a:p>
            <a:pPr eaLnBrk="1" hangingPunct="1">
              <a:lnSpc>
                <a:spcPct val="95000"/>
              </a:lnSpc>
              <a:spcBef>
                <a:spcPct val="0"/>
              </a:spcBef>
            </a:pPr>
            <a:endParaRPr lang="en-US" sz="1600">
              <a:solidFill>
                <a:srgbClr val="000000"/>
              </a:solidFill>
              <a:latin typeface="Arial" charset="0"/>
            </a:endParaRPr>
          </a:p>
          <a:p>
            <a:pPr eaLnBrk="1" hangingPunct="1">
              <a:lnSpc>
                <a:spcPct val="95000"/>
              </a:lnSpc>
              <a:spcBef>
                <a:spcPct val="0"/>
              </a:spcBef>
            </a:pPr>
            <a:r>
              <a:rPr lang="en-US" sz="1600">
                <a:solidFill>
                  <a:srgbClr val="000000"/>
                </a:solidFill>
                <a:latin typeface="Arial" charset="0"/>
              </a:rPr>
              <a:t>Excessive energy usage equals increased cost</a:t>
            </a:r>
            <a:endParaRPr lang="en-US">
              <a:latin typeface="Times New Roman" charset="0"/>
            </a:endParaRPr>
          </a:p>
          <a:p>
            <a:pPr eaLnBrk="1" hangingPunct="1">
              <a:lnSpc>
                <a:spcPct val="95000"/>
              </a:lnSpc>
              <a:spcBef>
                <a:spcPct val="0"/>
              </a:spcBef>
            </a:pPr>
            <a:r>
              <a:rPr lang="en-US" sz="1600">
                <a:solidFill>
                  <a:srgbClr val="000000"/>
                </a:solidFill>
                <a:latin typeface="Arial" charset="0"/>
              </a:rPr>
              <a:t>Excessive server space equals increased cost</a:t>
            </a:r>
            <a:endParaRPr lang="en-US">
              <a:latin typeface="Times New Roman" charset="0"/>
            </a:endParaRPr>
          </a:p>
          <a:p>
            <a:pPr eaLnBrk="1" hangingPunct="1">
              <a:lnSpc>
                <a:spcPct val="95000"/>
              </a:lnSpc>
              <a:spcBef>
                <a:spcPct val="0"/>
              </a:spcBef>
            </a:pPr>
            <a:r>
              <a:rPr lang="en-US" sz="1600">
                <a:solidFill>
                  <a:srgbClr val="000000"/>
                </a:solidFill>
                <a:latin typeface="Arial" charset="0"/>
              </a:rPr>
              <a:t>Inefficient server usage equals increased cost</a:t>
            </a:r>
            <a:endParaRPr lang="en-US">
              <a:latin typeface="Times New Roman" charset="0"/>
            </a:endParaRPr>
          </a:p>
          <a:p>
            <a:pPr eaLnBrk="1" hangingPunct="1">
              <a:lnSpc>
                <a:spcPct val="95000"/>
              </a:lnSpc>
              <a:spcBef>
                <a:spcPct val="0"/>
              </a:spcBef>
            </a:pPr>
            <a:endParaRPr lang="en-US" sz="1600">
              <a:solidFill>
                <a:srgbClr val="000000"/>
              </a:solidFill>
              <a:latin typeface="Arial" charset="0"/>
            </a:endParaRPr>
          </a:p>
          <a:p>
            <a:pPr eaLnBrk="1" hangingPunct="1">
              <a:lnSpc>
                <a:spcPct val="95000"/>
              </a:lnSpc>
              <a:spcBef>
                <a:spcPct val="0"/>
              </a:spcBef>
            </a:pPr>
            <a:r>
              <a:rPr lang="en-US" sz="1600">
                <a:solidFill>
                  <a:srgbClr val="000000"/>
                </a:solidFill>
                <a:latin typeface="Arial" charset="0"/>
              </a:rPr>
              <a:t>Outcome - </a:t>
            </a:r>
            <a:endParaRPr lang="en-US">
              <a:latin typeface="Times New Roman" charset="0"/>
            </a:endParaRPr>
          </a:p>
          <a:p>
            <a:pPr eaLnBrk="1" hangingPunct="1">
              <a:lnSpc>
                <a:spcPct val="95000"/>
              </a:lnSpc>
              <a:spcBef>
                <a:spcPct val="0"/>
              </a:spcBef>
            </a:pPr>
            <a:endParaRPr lang="en-US" sz="1600">
              <a:solidFill>
                <a:srgbClr val="000000"/>
              </a:solidFill>
              <a:latin typeface="Arial" charset="0"/>
            </a:endParaRPr>
          </a:p>
          <a:p>
            <a:pPr eaLnBrk="1" hangingPunct="1">
              <a:lnSpc>
                <a:spcPct val="95000"/>
              </a:lnSpc>
              <a:spcBef>
                <a:spcPct val="0"/>
              </a:spcBef>
            </a:pPr>
            <a:r>
              <a:rPr lang="en-US" sz="1600">
                <a:solidFill>
                  <a:srgbClr val="000000"/>
                </a:solidFill>
                <a:latin typeface="Arial" charset="0"/>
              </a:rPr>
              <a:t>Cloud providers use less energy, less data center space and more efficiently leverage server usage than traditional data-centers.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8D421A2A-43A9-974F-9EA4-3529D0ABA2F3}" type="slidenum">
              <a:rPr lang="en-US" sz="1200"/>
              <a:pPr eaLnBrk="1" hangingPunct="1"/>
              <a:t>14</a:t>
            </a:fld>
            <a:endParaRPr lang="en-US" sz="1200"/>
          </a:p>
        </p:txBody>
      </p:sp>
      <p:sp>
        <p:nvSpPr>
          <p:cNvPr id="30723" name="Rectangle 1"/>
          <p:cNvSpPr>
            <a:spLocks noGrp="1" noRot="1" noChangeAspect="1" noChangeArrowheads="1" noTextEdit="1"/>
          </p:cNvSpPr>
          <p:nvPr>
            <p:ph type="sldImg"/>
          </p:nvPr>
        </p:nvSpPr>
        <p:spPr>
          <a:ln/>
        </p:spPr>
      </p:sp>
      <p:sp>
        <p:nvSpPr>
          <p:cNvPr id="30724"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lnSpc>
                <a:spcPct val="95000"/>
              </a:lnSpc>
              <a:spcBef>
                <a:spcPct val="0"/>
              </a:spcBef>
            </a:pPr>
            <a:r>
              <a:rPr lang="en-US" sz="1600">
                <a:solidFill>
                  <a:srgbClr val="000000"/>
                </a:solidFill>
                <a:latin typeface="Arial" charset="0"/>
              </a:rPr>
              <a:t>Speak to data center consolidation effort - Use as </a:t>
            </a:r>
            <a:endParaRPr lang="en-US">
              <a:latin typeface="Times New Roman" charset="0"/>
            </a:endParaRPr>
          </a:p>
          <a:p>
            <a:pPr eaLnBrk="1" hangingPunct="1">
              <a:lnSpc>
                <a:spcPct val="95000"/>
              </a:lnSpc>
              <a:spcBef>
                <a:spcPct val="0"/>
              </a:spcBef>
            </a:pPr>
            <a:endParaRPr lang="en-US" sz="1600">
              <a:solidFill>
                <a:srgbClr val="000000"/>
              </a:solidFill>
              <a:latin typeface="Arial" charset="0"/>
            </a:endParaRPr>
          </a:p>
          <a:p>
            <a:pPr eaLnBrk="1" hangingPunct="1">
              <a:lnSpc>
                <a:spcPct val="95000"/>
              </a:lnSpc>
              <a:spcBef>
                <a:spcPct val="0"/>
              </a:spcBef>
            </a:pPr>
            <a:r>
              <a:rPr lang="en-US" sz="1600">
                <a:solidFill>
                  <a:srgbClr val="000000"/>
                </a:solidFill>
                <a:latin typeface="Arial" charset="0"/>
              </a:rPr>
              <a:t>Traditional Offices even worse - </a:t>
            </a:r>
            <a:endParaRPr lang="en-US">
              <a:latin typeface="Times New Roman" charset="0"/>
            </a:endParaRPr>
          </a:p>
          <a:p>
            <a:pPr eaLnBrk="1" hangingPunct="1">
              <a:lnSpc>
                <a:spcPct val="95000"/>
              </a:lnSpc>
              <a:spcBef>
                <a:spcPct val="0"/>
              </a:spcBef>
            </a:pPr>
            <a:endParaRPr lang="en-US" sz="1600">
              <a:solidFill>
                <a:srgbClr val="000000"/>
              </a:solidFill>
              <a:latin typeface="Arial" charset="0"/>
            </a:endParaRPr>
          </a:p>
          <a:p>
            <a:pPr eaLnBrk="1" hangingPunct="1">
              <a:lnSpc>
                <a:spcPct val="95000"/>
              </a:lnSpc>
              <a:spcBef>
                <a:spcPct val="0"/>
              </a:spcBef>
            </a:pPr>
            <a:r>
              <a:rPr lang="en-US" sz="1600">
                <a:solidFill>
                  <a:srgbClr val="000000"/>
                </a:solidFill>
                <a:latin typeface="Arial" charset="0"/>
              </a:rPr>
              <a:t>Data Center average is 2.0 ... </a:t>
            </a:r>
            <a:endParaRPr lang="en-US">
              <a:latin typeface="Times New Roman" charset="0"/>
            </a:endParaRPr>
          </a:p>
          <a:p>
            <a:pPr eaLnBrk="1" hangingPunct="1">
              <a:lnSpc>
                <a:spcPct val="95000"/>
              </a:lnSpc>
              <a:spcBef>
                <a:spcPct val="0"/>
              </a:spcBef>
            </a:pPr>
            <a:endParaRPr lang="en-US" sz="1600">
              <a:solidFill>
                <a:srgbClr val="000000"/>
              </a:solidFill>
              <a:latin typeface="Arial" charset="0"/>
            </a:endParaRPr>
          </a:p>
          <a:p>
            <a:pPr eaLnBrk="1" hangingPunct="1">
              <a:lnSpc>
                <a:spcPct val="95000"/>
              </a:lnSpc>
              <a:spcBef>
                <a:spcPct val="0"/>
              </a:spcBef>
            </a:pPr>
            <a:endParaRPr lang="en-US" sz="1600">
              <a:solidFill>
                <a:srgbClr val="000000"/>
              </a:solidFill>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BBB6566F-2851-7649-8693-E63CBAFF5245}" type="datetimeFigureOut">
              <a:rPr lang="en-US" smtClean="0"/>
              <a:t>27/08/16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629F516-E8FA-DC4E-9684-573E19C82E9B}"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BB6566F-2851-7649-8693-E63CBAFF5245}" type="datetimeFigureOut">
              <a:rPr lang="en-US" smtClean="0"/>
              <a:t>27/08/16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B6566F-2851-7649-8693-E63CBAFF5245}" type="datetimeFigureOut">
              <a:rPr lang="en-US" smtClean="0"/>
              <a:t>27/08/16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BBB6566F-2851-7649-8693-E63CBAFF5245}" type="datetimeFigureOut">
              <a:rPr lang="en-US" smtClean="0"/>
              <a:t>27/08/16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9F516-E8FA-DC4E-9684-573E19C82E9B}"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BB6566F-2851-7649-8693-E63CBAFF5245}" type="datetimeFigureOut">
              <a:rPr lang="en-US" smtClean="0"/>
              <a:t>27/08/16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B6566F-2851-7649-8693-E63CBAFF5245}" type="datetimeFigureOut">
              <a:rPr lang="en-US" smtClean="0"/>
              <a:t>27/08/16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B6566F-2851-7649-8693-E63CBAFF5245}" type="datetimeFigureOut">
              <a:rPr lang="en-US" smtClean="0"/>
              <a:t>27/08/16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BB6566F-2851-7649-8693-E63CBAFF5245}" type="datetimeFigureOut">
              <a:rPr lang="en-US" smtClean="0"/>
              <a:t>27/08/16</a:t>
            </a:fld>
            <a:endParaRPr lang="en-US"/>
          </a:p>
        </p:txBody>
      </p:sp>
      <p:sp>
        <p:nvSpPr>
          <p:cNvPr id="7" name="Slide Number Placeholder 6"/>
          <p:cNvSpPr>
            <a:spLocks noGrp="1"/>
          </p:cNvSpPr>
          <p:nvPr>
            <p:ph type="sldNum" sz="quarter" idx="12"/>
          </p:nvPr>
        </p:nvSpPr>
        <p:spPr/>
        <p:txBody>
          <a:bodyPr/>
          <a:lstStyle/>
          <a:p>
            <a:fld id="{8629F516-E8FA-DC4E-9684-573E19C82E9B}"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B6566F-2851-7649-8693-E63CBAFF5245}" type="datetimeFigureOut">
              <a:rPr lang="en-US" smtClean="0"/>
              <a:t>27/08/16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6566F-2851-7649-8693-E63CBAFF5245}" type="datetimeFigureOut">
              <a:rPr lang="en-US" smtClean="0"/>
              <a:t>27/08/16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6566F-2851-7649-8693-E63CBAFF5245}" type="datetimeFigureOut">
              <a:rPr lang="en-US" smtClean="0"/>
              <a:t>27/08/16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9F516-E8FA-DC4E-9684-573E19C82E9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BBB6566F-2851-7649-8693-E63CBAFF5245}" type="datetimeFigureOut">
              <a:rPr lang="en-US" smtClean="0"/>
              <a:t>27/08/16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8629F516-E8FA-DC4E-9684-573E19C82E9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tif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1" Type="http://schemas.openxmlformats.org/officeDocument/2006/relationships/vmlDrawing" Target="../drawings/vmlDrawing1.vml"/><Relationship Id="rId2"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Virtualization</a:t>
            </a:r>
            <a:br>
              <a:rPr lang="en-US" dirty="0" smtClean="0"/>
            </a:br>
            <a:endParaRPr lang="en-US" dirty="0"/>
          </a:p>
        </p:txBody>
      </p:sp>
      <p:sp>
        <p:nvSpPr>
          <p:cNvPr id="3" name="Subtitle 2"/>
          <p:cNvSpPr>
            <a:spLocks noGrp="1"/>
          </p:cNvSpPr>
          <p:nvPr>
            <p:ph type="subTitle" idx="1"/>
          </p:nvPr>
        </p:nvSpPr>
        <p:spPr/>
        <p:txBody>
          <a:bodyPr>
            <a:normAutofit/>
          </a:bodyPr>
          <a:lstStyle/>
          <a:p>
            <a:pPr algn="ctr"/>
            <a:r>
              <a:rPr lang="en-US" sz="2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 move towards Greener Planet</a:t>
            </a:r>
            <a:endPar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4" name="Picture 3"/>
          <p:cNvPicPr>
            <a:picLocks noChangeAspect="1"/>
          </p:cNvPicPr>
          <p:nvPr/>
        </p:nvPicPr>
        <p:blipFill>
          <a:blip r:embed="rId2"/>
          <a:stretch>
            <a:fillRect/>
          </a:stretch>
        </p:blipFill>
        <p:spPr>
          <a:xfrm>
            <a:off x="4602867" y="0"/>
            <a:ext cx="3657600" cy="2426208"/>
          </a:xfrm>
          <a:prstGeom prst="rect">
            <a:avLst/>
          </a:prstGeom>
        </p:spPr>
      </p:pic>
    </p:spTree>
    <p:extLst>
      <p:ext uri="{BB962C8B-B14F-4D97-AF65-F5344CB8AC3E}">
        <p14:creationId xmlns:p14="http://schemas.microsoft.com/office/powerpoint/2010/main" val="272260506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a:t>
            </a:r>
            <a:endParaRPr lang="en-US" dirty="0"/>
          </a:p>
        </p:txBody>
      </p:sp>
      <p:sp>
        <p:nvSpPr>
          <p:cNvPr id="3" name="Content Placeholder 2"/>
          <p:cNvSpPr>
            <a:spLocks noGrp="1"/>
          </p:cNvSpPr>
          <p:nvPr>
            <p:ph idx="1"/>
          </p:nvPr>
        </p:nvSpPr>
        <p:spPr/>
        <p:txBody>
          <a:bodyPr/>
          <a:lstStyle/>
          <a:p>
            <a:r>
              <a:rPr lang="en-US" dirty="0" smtClean="0"/>
              <a:t>Virtual : Imaginary</a:t>
            </a:r>
          </a:p>
          <a:p>
            <a:pPr marL="68580" indent="0">
              <a:buNone/>
            </a:pPr>
            <a:endParaRPr lang="en-US" dirty="0"/>
          </a:p>
        </p:txBody>
      </p:sp>
      <p:pic>
        <p:nvPicPr>
          <p:cNvPr id="4" name="Picture 3" descr="2000px-Virtual_memory.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3323" y="2854487"/>
            <a:ext cx="4339133" cy="3231733"/>
          </a:xfrm>
          <a:prstGeom prst="rect">
            <a:avLst/>
          </a:prstGeom>
        </p:spPr>
      </p:pic>
    </p:spTree>
    <p:extLst>
      <p:ext uri="{BB962C8B-B14F-4D97-AF65-F5344CB8AC3E}">
        <p14:creationId xmlns:p14="http://schemas.microsoft.com/office/powerpoint/2010/main" val="415434850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a:t>
            </a:r>
            <a:endParaRPr lang="en-US" dirty="0"/>
          </a:p>
        </p:txBody>
      </p:sp>
      <p:sp>
        <p:nvSpPr>
          <p:cNvPr id="3" name="Content Placeholder 2"/>
          <p:cNvSpPr>
            <a:spLocks noGrp="1"/>
          </p:cNvSpPr>
          <p:nvPr>
            <p:ph idx="1"/>
          </p:nvPr>
        </p:nvSpPr>
        <p:spPr/>
        <p:txBody>
          <a:bodyPr/>
          <a:lstStyle/>
          <a:p>
            <a:pPr algn="just"/>
            <a:r>
              <a:rPr lang="en-US" dirty="0" smtClean="0"/>
              <a:t>It is the technology which is making a transformation in IT by saving cost, energy, time.</a:t>
            </a:r>
          </a:p>
          <a:p>
            <a:pPr algn="just"/>
            <a:r>
              <a:rPr lang="en-US" dirty="0"/>
              <a:t>Virtualization provides an emulation of hardware (computer resources) to different virtual machines. A virtual machine is an illusion of existing machine, which uses the resources of underlying machine &amp; works as actual </a:t>
            </a:r>
            <a:r>
              <a:rPr lang="en-US" dirty="0" smtClean="0"/>
              <a:t>machine</a:t>
            </a:r>
            <a:r>
              <a:rPr lang="en-IN" dirty="0" smtClean="0"/>
              <a:t>.</a:t>
            </a:r>
            <a:endParaRPr lang="en-US" dirty="0" smtClean="0"/>
          </a:p>
          <a:p>
            <a:pPr algn="just"/>
            <a:endParaRPr lang="en-US" dirty="0"/>
          </a:p>
        </p:txBody>
      </p:sp>
    </p:spTree>
    <p:extLst>
      <p:ext uri="{BB962C8B-B14F-4D97-AF65-F5344CB8AC3E}">
        <p14:creationId xmlns:p14="http://schemas.microsoft.com/office/powerpoint/2010/main" val="1509412325"/>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916582"/>
            <a:ext cx="6777317" cy="4916047"/>
          </a:xfrm>
        </p:spPr>
        <p:txBody>
          <a:bodyPr>
            <a:normAutofit/>
          </a:bodyPr>
          <a:lstStyle/>
          <a:p>
            <a:pPr algn="just"/>
            <a:r>
              <a:rPr lang="en-US" dirty="0"/>
              <a:t>V</a:t>
            </a:r>
            <a:r>
              <a:rPr lang="en-US" dirty="0" smtClean="0"/>
              <a:t>irtualization </a:t>
            </a:r>
            <a:r>
              <a:rPr lang="en-US" dirty="0"/>
              <a:t>is to run different </a:t>
            </a:r>
            <a:r>
              <a:rPr lang="en-US" dirty="0" smtClean="0"/>
              <a:t>operating systems and different applications </a:t>
            </a:r>
            <a:r>
              <a:rPr lang="en-US" dirty="0"/>
              <a:t>on </a:t>
            </a:r>
            <a:r>
              <a:rPr lang="en-US" dirty="0" smtClean="0"/>
              <a:t>same  machine at the same time, </a:t>
            </a:r>
            <a:r>
              <a:rPr lang="en-US" dirty="0"/>
              <a:t>giving an illusion that each is running on different machines</a:t>
            </a:r>
            <a:r>
              <a:rPr lang="en-US" dirty="0" smtClean="0"/>
              <a:t>.</a:t>
            </a:r>
          </a:p>
          <a:p>
            <a:pPr marL="68580" indent="0" algn="just">
              <a:buNone/>
            </a:pPr>
            <a:endParaRPr lang="en-US" dirty="0" smtClean="0"/>
          </a:p>
          <a:p>
            <a:r>
              <a:rPr lang="en-US" dirty="0">
                <a:cs typeface="Century  Gatholic"/>
              </a:rPr>
              <a:t>One physical machine to support multiple virtual machines that run in parallel</a:t>
            </a:r>
            <a:r>
              <a:rPr lang="en-US" dirty="0" smtClean="0">
                <a:cs typeface="Century  Gatholic"/>
              </a:rPr>
              <a:t>.</a:t>
            </a:r>
          </a:p>
          <a:p>
            <a:endParaRPr lang="en-US" dirty="0">
              <a:cs typeface="Century  Gatholic"/>
            </a:endParaRPr>
          </a:p>
          <a:p>
            <a:pPr marL="68580" indent="0">
              <a:buNone/>
            </a:pPr>
            <a:r>
              <a:rPr lang="en-IN" dirty="0" smtClean="0"/>
              <a:t> </a:t>
            </a:r>
          </a:p>
          <a:p>
            <a:endParaRPr lang="en-US" dirty="0"/>
          </a:p>
        </p:txBody>
      </p:sp>
    </p:spTree>
    <p:extLst>
      <p:ext uri="{BB962C8B-B14F-4D97-AF65-F5344CB8AC3E}">
        <p14:creationId xmlns:p14="http://schemas.microsoft.com/office/powerpoint/2010/main" val="127233980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Virtualization:Abstraction</a:t>
            </a:r>
            <a:endParaRPr lang="en-US" dirty="0"/>
          </a:p>
        </p:txBody>
      </p:sp>
      <p:sp>
        <p:nvSpPr>
          <p:cNvPr id="3" name="Content Placeholder 2"/>
          <p:cNvSpPr>
            <a:spLocks noGrp="1"/>
          </p:cNvSpPr>
          <p:nvPr>
            <p:ph idx="1"/>
          </p:nvPr>
        </p:nvSpPr>
        <p:spPr/>
        <p:txBody>
          <a:bodyPr/>
          <a:lstStyle/>
          <a:p>
            <a:pPr algn="just"/>
            <a:r>
              <a:rPr lang="en-US" dirty="0"/>
              <a:t>Virtualization is a framework or methodology of dividing the resources of a computer into multiple execution environments, by applying one or more concepts or technologies such as hardware and software partitioning, time- sharing, partial or complete machine simulation, emulation, and quality of service. </a:t>
            </a:r>
          </a:p>
          <a:p>
            <a:endParaRPr lang="en-US" dirty="0"/>
          </a:p>
        </p:txBody>
      </p:sp>
    </p:spTree>
    <p:extLst>
      <p:ext uri="{BB962C8B-B14F-4D97-AF65-F5344CB8AC3E}">
        <p14:creationId xmlns:p14="http://schemas.microsoft.com/office/powerpoint/2010/main" val="391243164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060618"/>
            <a:ext cx="6777317" cy="4772012"/>
          </a:xfrm>
        </p:spPr>
        <p:txBody>
          <a:bodyPr/>
          <a:lstStyle/>
          <a:p>
            <a:pPr>
              <a:buFont typeface="Wingdings" charset="2"/>
              <a:buChar char="u"/>
            </a:pPr>
            <a:r>
              <a:rPr lang="en-US" dirty="0" smtClean="0"/>
              <a:t>Multiple Operating System on a single physical system</a:t>
            </a:r>
          </a:p>
          <a:p>
            <a:pPr>
              <a:buFont typeface="Wingdings" charset="2"/>
              <a:buChar char="u"/>
            </a:pPr>
            <a:r>
              <a:rPr lang="en-US" dirty="0" smtClean="0"/>
              <a:t>Sharing the underlying hardware</a:t>
            </a:r>
          </a:p>
          <a:p>
            <a:pPr>
              <a:buFont typeface="Wingdings" charset="2"/>
              <a:buChar char="u"/>
            </a:pPr>
            <a:r>
              <a:rPr lang="en-US" dirty="0" smtClean="0"/>
              <a:t>Time Sharing</a:t>
            </a:r>
          </a:p>
          <a:p>
            <a:pPr>
              <a:buFont typeface="Wingdings" charset="2"/>
              <a:buChar char="u"/>
            </a:pPr>
            <a:r>
              <a:rPr lang="en-US" dirty="0" smtClean="0"/>
              <a:t>Complete or Partial Emulation of resources</a:t>
            </a:r>
          </a:p>
          <a:p>
            <a:pPr>
              <a:buFont typeface="Wingdings" charset="2"/>
              <a:buChar char="u"/>
            </a:pPr>
            <a:r>
              <a:rPr lang="en-US" dirty="0" smtClean="0"/>
              <a:t>Multiple Executions</a:t>
            </a:r>
          </a:p>
          <a:p>
            <a:pPr>
              <a:buFont typeface="Wingdings" charset="2"/>
              <a:buChar char="u"/>
            </a:pPr>
            <a:endParaRPr lang="en-US" dirty="0"/>
          </a:p>
        </p:txBody>
      </p:sp>
    </p:spTree>
    <p:extLst>
      <p:ext uri="{BB962C8B-B14F-4D97-AF65-F5344CB8AC3E}">
        <p14:creationId xmlns:p14="http://schemas.microsoft.com/office/powerpoint/2010/main" val="297572530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Greener Approach</a:t>
            </a:r>
            <a:endParaRPr lang="en-US" dirty="0"/>
          </a:p>
        </p:txBody>
      </p:sp>
      <p:sp>
        <p:nvSpPr>
          <p:cNvPr id="3" name="Content Placeholder 2"/>
          <p:cNvSpPr>
            <a:spLocks noGrp="1"/>
          </p:cNvSpPr>
          <p:nvPr>
            <p:ph idx="1"/>
          </p:nvPr>
        </p:nvSpPr>
        <p:spPr/>
        <p:txBody>
          <a:bodyPr>
            <a:normAutofit fontScale="92500" lnSpcReduction="10000"/>
          </a:bodyPr>
          <a:lstStyle/>
          <a:p>
            <a:pPr marL="0" indent="0">
              <a:lnSpc>
                <a:spcPct val="95000"/>
              </a:lnSpc>
              <a:spcBef>
                <a:spcPct val="0"/>
              </a:spcBef>
              <a:buNone/>
            </a:pPr>
            <a:r>
              <a:rPr lang="en-US" sz="2100" b="1" dirty="0">
                <a:solidFill>
                  <a:srgbClr val="000000"/>
                </a:solidFill>
                <a:latin typeface="Arial" charset="0"/>
              </a:rPr>
              <a:t>The Reality:</a:t>
            </a:r>
            <a:endParaRPr lang="en-US" dirty="0">
              <a:latin typeface="Times New Roman" charset="0"/>
            </a:endParaRPr>
          </a:p>
          <a:p>
            <a:pPr marL="457200" lvl="1" indent="-342900">
              <a:lnSpc>
                <a:spcPct val="95000"/>
              </a:lnSpc>
              <a:spcBef>
                <a:spcPct val="0"/>
              </a:spcBef>
              <a:buClr>
                <a:srgbClr val="000000"/>
              </a:buClr>
              <a:buFontTx/>
              <a:buChar char="•"/>
            </a:pPr>
            <a:r>
              <a:rPr lang="en-US" sz="2100" dirty="0">
                <a:solidFill>
                  <a:srgbClr val="000000"/>
                </a:solidFill>
                <a:latin typeface="Arial" charset="0"/>
              </a:rPr>
              <a:t>Most servers only use </a:t>
            </a:r>
            <a:r>
              <a:rPr lang="en-US" sz="2100" b="1" dirty="0">
                <a:solidFill>
                  <a:srgbClr val="000000"/>
                </a:solidFill>
                <a:latin typeface="Arial" charset="0"/>
              </a:rPr>
              <a:t>5-15%</a:t>
            </a:r>
            <a:r>
              <a:rPr lang="en-US" sz="2100" dirty="0">
                <a:solidFill>
                  <a:srgbClr val="000000"/>
                </a:solidFill>
                <a:latin typeface="Arial" charset="0"/>
              </a:rPr>
              <a:t> of their capabilities on average, while consuming </a:t>
            </a:r>
            <a:r>
              <a:rPr lang="en-US" sz="2100" b="1" dirty="0">
                <a:solidFill>
                  <a:srgbClr val="000000"/>
                </a:solidFill>
                <a:latin typeface="Arial" charset="0"/>
              </a:rPr>
              <a:t>60-90%</a:t>
            </a:r>
            <a:r>
              <a:rPr lang="en-US" sz="2100" dirty="0">
                <a:solidFill>
                  <a:srgbClr val="000000"/>
                </a:solidFill>
                <a:latin typeface="Arial" charset="0"/>
              </a:rPr>
              <a:t> of their peak power.</a:t>
            </a:r>
            <a:endParaRPr lang="en-US" dirty="0">
              <a:latin typeface="Times New Roman" charset="0"/>
            </a:endParaRPr>
          </a:p>
          <a:p>
            <a:pPr marL="0" indent="0">
              <a:lnSpc>
                <a:spcPct val="95000"/>
              </a:lnSpc>
              <a:spcBef>
                <a:spcPct val="0"/>
              </a:spcBef>
              <a:buNone/>
            </a:pPr>
            <a:endParaRPr lang="en-US" sz="1700" b="1" dirty="0">
              <a:solidFill>
                <a:srgbClr val="000000"/>
              </a:solidFill>
              <a:latin typeface="Arial" charset="0"/>
            </a:endParaRPr>
          </a:p>
          <a:p>
            <a:pPr marL="0" indent="0">
              <a:lnSpc>
                <a:spcPct val="95000"/>
              </a:lnSpc>
              <a:spcBef>
                <a:spcPct val="0"/>
              </a:spcBef>
              <a:buNone/>
            </a:pPr>
            <a:r>
              <a:rPr lang="en-US" sz="2100" b="1" dirty="0">
                <a:solidFill>
                  <a:srgbClr val="000000"/>
                </a:solidFill>
                <a:latin typeface="Arial" charset="0"/>
              </a:rPr>
              <a:t>The Solution - Virtualization:</a:t>
            </a:r>
            <a:r>
              <a:rPr lang="en-US" sz="2100" dirty="0">
                <a:solidFill>
                  <a:srgbClr val="000000"/>
                </a:solidFill>
                <a:latin typeface="Arial" charset="0"/>
              </a:rPr>
              <a:t> </a:t>
            </a:r>
            <a:endParaRPr lang="en-US" dirty="0">
              <a:latin typeface="Times New Roman" charset="0"/>
            </a:endParaRPr>
          </a:p>
          <a:p>
            <a:pPr marL="857250" lvl="2" indent="-285750">
              <a:lnSpc>
                <a:spcPct val="95000"/>
              </a:lnSpc>
              <a:spcBef>
                <a:spcPct val="0"/>
              </a:spcBef>
              <a:buClr>
                <a:srgbClr val="000000"/>
              </a:buClr>
              <a:buSzPct val="80000"/>
              <a:buFont typeface="Courier New" charset="0"/>
              <a:buChar char="o"/>
            </a:pPr>
            <a:r>
              <a:rPr lang="en-US" sz="2100" dirty="0">
                <a:solidFill>
                  <a:srgbClr val="000000"/>
                </a:solidFill>
                <a:latin typeface="Arial" charset="0"/>
              </a:rPr>
              <a:t>Use one server to host multiple applications.</a:t>
            </a:r>
            <a:endParaRPr lang="en-US" dirty="0">
              <a:latin typeface="Times New Roman" charset="0"/>
            </a:endParaRPr>
          </a:p>
          <a:p>
            <a:pPr marL="857250" lvl="2" indent="-285750">
              <a:lnSpc>
                <a:spcPct val="95000"/>
              </a:lnSpc>
              <a:spcBef>
                <a:spcPct val="0"/>
              </a:spcBef>
              <a:buClr>
                <a:srgbClr val="000000"/>
              </a:buClr>
              <a:buSzPct val="80000"/>
              <a:buFont typeface="Courier New" charset="0"/>
              <a:buChar char="o"/>
            </a:pPr>
            <a:r>
              <a:rPr lang="en-US" sz="2100" dirty="0">
                <a:solidFill>
                  <a:srgbClr val="000000"/>
                </a:solidFill>
                <a:latin typeface="Arial" charset="0"/>
              </a:rPr>
              <a:t>Reduce energy consumption</a:t>
            </a:r>
            <a:endParaRPr lang="en-US" dirty="0">
              <a:latin typeface="Times New Roman" charset="0"/>
            </a:endParaRPr>
          </a:p>
          <a:p>
            <a:pPr marL="857250" lvl="2" indent="-285750">
              <a:lnSpc>
                <a:spcPct val="95000"/>
              </a:lnSpc>
              <a:spcBef>
                <a:spcPct val="0"/>
              </a:spcBef>
              <a:buClr>
                <a:srgbClr val="000000"/>
              </a:buClr>
              <a:buSzPct val="80000"/>
              <a:buFont typeface="Courier New" charset="0"/>
              <a:buChar char="o"/>
            </a:pPr>
            <a:r>
              <a:rPr lang="en-US" sz="2100" dirty="0">
                <a:solidFill>
                  <a:srgbClr val="000000"/>
                </a:solidFill>
                <a:latin typeface="Arial" charset="0"/>
              </a:rPr>
              <a:t>Reduce CO2 emissions</a:t>
            </a:r>
            <a:endParaRPr lang="en-US" dirty="0">
              <a:latin typeface="Times New Roman" charset="0"/>
            </a:endParaRPr>
          </a:p>
          <a:p>
            <a:pPr marL="0" indent="0" algn="just">
              <a:lnSpc>
                <a:spcPct val="95000"/>
              </a:lnSpc>
              <a:spcBef>
                <a:spcPct val="0"/>
              </a:spcBef>
              <a:buNone/>
            </a:pPr>
            <a:endParaRPr lang="en-US" sz="2100" dirty="0">
              <a:solidFill>
                <a:srgbClr val="000000"/>
              </a:solidFill>
              <a:latin typeface="Arial" charset="0"/>
            </a:endParaRPr>
          </a:p>
          <a:p>
            <a:pPr marL="0" indent="0" algn="just">
              <a:lnSpc>
                <a:spcPct val="95000"/>
              </a:lnSpc>
              <a:spcBef>
                <a:spcPct val="0"/>
              </a:spcBef>
              <a:buNone/>
            </a:pPr>
            <a:r>
              <a:rPr lang="en-US" sz="2700" b="1" dirty="0">
                <a:solidFill>
                  <a:srgbClr val="000000"/>
                </a:solidFill>
                <a:latin typeface="Arial" charset="0"/>
              </a:rPr>
              <a:t>Running fewer, highly utilized servers frees up space and power. Less space and power is better for environment and saves money.</a:t>
            </a:r>
          </a:p>
          <a:p>
            <a:pPr marL="68580" indent="0">
              <a:buNone/>
            </a:pPr>
            <a:endParaRPr lang="en-US" dirty="0"/>
          </a:p>
        </p:txBody>
      </p:sp>
    </p:spTree>
    <p:extLst>
      <p:ext uri="{BB962C8B-B14F-4D97-AF65-F5344CB8AC3E}">
        <p14:creationId xmlns:p14="http://schemas.microsoft.com/office/powerpoint/2010/main" val="332902988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bwMode="auto"/>
        <p:txBody>
          <a:bodyPr wrap="square" lIns="91440" tIns="45720" rIns="91440" bIns="45720" numCol="1" anchorCtr="0" compatLnSpc="1">
            <a:prstTxWarp prst="textNoShape">
              <a:avLst/>
            </a:prstTxWarp>
            <a:normAutofit fontScale="90000"/>
          </a:bodyPr>
          <a:lstStyle/>
          <a:p>
            <a:pPr marL="342900" indent="-342900"/>
            <a:r>
              <a:rPr lang="en-US" sz="3200" dirty="0" smtClean="0">
                <a:solidFill>
                  <a:schemeClr val="tx1"/>
                </a:solidFill>
                <a:latin typeface="Century Schoolbook" charset="0"/>
              </a:rPr>
              <a:t>Need for </a:t>
            </a:r>
            <a:r>
              <a:rPr lang="en-US" sz="3200" cap="none" dirty="0" smtClean="0">
                <a:solidFill>
                  <a:schemeClr val="tx1"/>
                </a:solidFill>
                <a:latin typeface="Century Schoolbook" charset="0"/>
              </a:rPr>
              <a:t> </a:t>
            </a:r>
            <a:r>
              <a:rPr lang="en-US" sz="3200" cap="none" dirty="0">
                <a:solidFill>
                  <a:schemeClr val="tx1"/>
                </a:solidFill>
                <a:latin typeface="Century Schoolbook" charset="0"/>
              </a:rPr>
              <a:t>Virtualization</a:t>
            </a:r>
            <a:r>
              <a:rPr lang="en-US" sz="2400" cap="none" dirty="0">
                <a:latin typeface="Century Schoolbook" charset="0"/>
              </a:rPr>
              <a:t/>
            </a:r>
            <a:br>
              <a:rPr lang="en-US" sz="2400" cap="none" dirty="0">
                <a:latin typeface="Century Schoolbook" charset="0"/>
              </a:rPr>
            </a:br>
            <a:endParaRPr lang="en-US" cap="none" dirty="0">
              <a:latin typeface="Century Schoolbook" charset="0"/>
            </a:endParaRPr>
          </a:p>
        </p:txBody>
      </p:sp>
      <p:sp>
        <p:nvSpPr>
          <p:cNvPr id="24579" name="Content Placeholder 5"/>
          <p:cNvSpPr>
            <a:spLocks noGrp="1"/>
          </p:cNvSpPr>
          <p:nvPr>
            <p:ph sz="quarter" idx="4294967295"/>
          </p:nvPr>
        </p:nvSpPr>
        <p:spPr>
          <a:xfrm>
            <a:off x="4270375" y="1600200"/>
            <a:ext cx="4311650" cy="4572000"/>
          </a:xfrm>
          <a:prstGeom prst="rect">
            <a:avLst/>
          </a:prstGeom>
        </p:spPr>
        <p:txBody>
          <a:bodyPr/>
          <a:lstStyle/>
          <a:p>
            <a:pPr algn="just"/>
            <a:r>
              <a:rPr lang="en-US" dirty="0">
                <a:latin typeface="Century Schoolbook" charset="0"/>
              </a:rPr>
              <a:t> Single OS image per machine</a:t>
            </a:r>
          </a:p>
          <a:p>
            <a:pPr algn="just"/>
            <a:r>
              <a:rPr lang="en-US" dirty="0">
                <a:latin typeface="Century Schoolbook" charset="0"/>
              </a:rPr>
              <a:t>Software and hardware tightly coupled</a:t>
            </a:r>
          </a:p>
          <a:p>
            <a:pPr algn="just"/>
            <a:r>
              <a:rPr lang="en-US" dirty="0">
                <a:latin typeface="Century Schoolbook" charset="0"/>
              </a:rPr>
              <a:t>Running multiple applications on same machine often creates conflict</a:t>
            </a:r>
          </a:p>
          <a:p>
            <a:pPr algn="just"/>
            <a:r>
              <a:rPr lang="en-US" dirty="0">
                <a:latin typeface="Century Schoolbook" charset="0"/>
              </a:rPr>
              <a:t>Inflexible and costly infrastructure</a:t>
            </a:r>
          </a:p>
          <a:p>
            <a:endParaRPr lang="en-US" dirty="0">
              <a:latin typeface="Century Schoolbook" charset="0"/>
            </a:endParaRPr>
          </a:p>
        </p:txBody>
      </p:sp>
      <p:pic>
        <p:nvPicPr>
          <p:cNvPr id="24580" name="Content Placeholder 6"/>
          <p:cNvPicPr>
            <a:picLocks noGrp="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567030" y="1600200"/>
            <a:ext cx="3806116" cy="4230687"/>
          </a:xfrm>
          <a:prstGeom prst="rect">
            <a:avLst/>
          </a:prstGeom>
        </p:spPr>
      </p:pic>
    </p:spTree>
    <p:extLst>
      <p:ext uri="{BB962C8B-B14F-4D97-AF65-F5344CB8AC3E}">
        <p14:creationId xmlns:p14="http://schemas.microsoft.com/office/powerpoint/2010/main" val="2785914130"/>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44" y="456164"/>
            <a:ext cx="7024744" cy="813957"/>
          </a:xfrm>
        </p:spPr>
        <p:txBody>
          <a:bodyPr/>
          <a:lstStyle/>
          <a:p>
            <a:r>
              <a:rPr lang="en-US" dirty="0" smtClean="0"/>
              <a:t>Need…</a:t>
            </a:r>
            <a:endParaRPr lang="en-US" dirty="0"/>
          </a:p>
        </p:txBody>
      </p:sp>
      <p:sp>
        <p:nvSpPr>
          <p:cNvPr id="3" name="Content Placeholder 2"/>
          <p:cNvSpPr>
            <a:spLocks noGrp="1"/>
          </p:cNvSpPr>
          <p:nvPr>
            <p:ph idx="1"/>
          </p:nvPr>
        </p:nvSpPr>
        <p:spPr>
          <a:xfrm>
            <a:off x="1043492" y="1270122"/>
            <a:ext cx="6777317" cy="4562508"/>
          </a:xfrm>
        </p:spPr>
        <p:txBody>
          <a:bodyPr>
            <a:normAutofit/>
          </a:bodyPr>
          <a:lstStyle/>
          <a:p>
            <a:pPr algn="just"/>
            <a:r>
              <a:rPr lang="en-US" dirty="0"/>
              <a:t>Cloud computing promises </a:t>
            </a:r>
            <a:r>
              <a:rPr lang="en-US" dirty="0">
                <a:solidFill>
                  <a:srgbClr val="FF0000"/>
                </a:solidFill>
              </a:rPr>
              <a:t>to give you as much as you desire</a:t>
            </a:r>
            <a:r>
              <a:rPr lang="en-US" dirty="0"/>
              <a:t>. It is a fully </a:t>
            </a:r>
            <a:r>
              <a:rPr lang="en-US" dirty="0">
                <a:solidFill>
                  <a:srgbClr val="FF0000"/>
                </a:solidFill>
              </a:rPr>
              <a:t>scalable</a:t>
            </a:r>
            <a:r>
              <a:rPr lang="en-US" dirty="0"/>
              <a:t> and </a:t>
            </a:r>
            <a:r>
              <a:rPr lang="en-US" dirty="0">
                <a:solidFill>
                  <a:srgbClr val="FF0000"/>
                </a:solidFill>
              </a:rPr>
              <a:t>elastic model</a:t>
            </a:r>
            <a:r>
              <a:rPr lang="en-US" dirty="0"/>
              <a:t>. But to fulfill the real time demands a </a:t>
            </a:r>
            <a:r>
              <a:rPr lang="en-US" dirty="0">
                <a:solidFill>
                  <a:srgbClr val="FF0000"/>
                </a:solidFill>
              </a:rPr>
              <a:t>lot of infrastructure</a:t>
            </a:r>
            <a:r>
              <a:rPr lang="en-US" dirty="0"/>
              <a:t> is required, which would require a lot of cost and energy consumption too. The solution to it is </a:t>
            </a:r>
            <a:r>
              <a:rPr lang="en-US" b="1" dirty="0">
                <a:solidFill>
                  <a:schemeClr val="accent1"/>
                </a:solidFill>
              </a:rPr>
              <a:t>Virtualization</a:t>
            </a:r>
            <a:r>
              <a:rPr lang="en-US" dirty="0" smtClean="0"/>
              <a:t>.</a:t>
            </a:r>
            <a:r>
              <a:rPr lang="en-US" dirty="0"/>
              <a:t> As with virtualization the same resource can be made available to many user concurrently. Therefore virtualization is the basic need of cloud computing</a:t>
            </a:r>
            <a:r>
              <a:rPr lang="en-IN" dirty="0"/>
              <a:t> </a:t>
            </a:r>
            <a:r>
              <a:rPr lang="en-US" dirty="0" smtClean="0"/>
              <a:t> </a:t>
            </a:r>
            <a:endParaRPr lang="en-US" dirty="0"/>
          </a:p>
        </p:txBody>
      </p:sp>
    </p:spTree>
    <p:extLst>
      <p:ext uri="{BB962C8B-B14F-4D97-AF65-F5344CB8AC3E}">
        <p14:creationId xmlns:p14="http://schemas.microsoft.com/office/powerpoint/2010/main" val="383034655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75039" y="545306"/>
            <a:ext cx="7467600" cy="541337"/>
          </a:xfrm>
        </p:spPr>
        <p:txBody>
          <a:bodyPr>
            <a:normAutofit fontScale="90000"/>
          </a:bodyPr>
          <a:lstStyle/>
          <a:p>
            <a:pPr>
              <a:defRPr/>
            </a:pPr>
            <a:r>
              <a:rPr lang="en-US" dirty="0" smtClean="0">
                <a:solidFill>
                  <a:schemeClr val="tx1"/>
                </a:solidFill>
                <a:ea typeface="+mj-ea"/>
              </a:rPr>
              <a:t>Virtualization Gave..</a:t>
            </a:r>
            <a:endParaRPr lang="en-US" dirty="0">
              <a:solidFill>
                <a:schemeClr val="tx1"/>
              </a:solidFill>
              <a:ea typeface="+mj-ea"/>
            </a:endParaRPr>
          </a:p>
        </p:txBody>
      </p:sp>
      <p:sp>
        <p:nvSpPr>
          <p:cNvPr id="25603" name="Content Placeholder 5"/>
          <p:cNvSpPr>
            <a:spLocks noGrp="1"/>
          </p:cNvSpPr>
          <p:nvPr>
            <p:ph sz="quarter" idx="4294967295"/>
          </p:nvPr>
        </p:nvSpPr>
        <p:spPr>
          <a:xfrm>
            <a:off x="4456463" y="1435203"/>
            <a:ext cx="4300538" cy="3789362"/>
          </a:xfrm>
          <a:prstGeom prst="rect">
            <a:avLst/>
          </a:prstGeom>
        </p:spPr>
        <p:txBody>
          <a:bodyPr>
            <a:normAutofit lnSpcReduction="10000"/>
          </a:bodyPr>
          <a:lstStyle/>
          <a:p>
            <a:pPr algn="just"/>
            <a:r>
              <a:rPr lang="en-US" dirty="0">
                <a:latin typeface="Century Schoolbook" charset="0"/>
              </a:rPr>
              <a:t>Hardware-independence of operating system and applications</a:t>
            </a:r>
          </a:p>
          <a:p>
            <a:pPr algn="just"/>
            <a:r>
              <a:rPr lang="en-US" dirty="0">
                <a:latin typeface="Century Schoolbook" charset="0"/>
              </a:rPr>
              <a:t> Virtual machines can be provisioned to any system</a:t>
            </a:r>
          </a:p>
          <a:p>
            <a:pPr algn="just"/>
            <a:r>
              <a:rPr lang="en-US" dirty="0">
                <a:latin typeface="Century Schoolbook" charset="0"/>
              </a:rPr>
              <a:t>Can manage OS and application as a single unit by encapsulating them into virtual Machines</a:t>
            </a:r>
          </a:p>
        </p:txBody>
      </p:sp>
      <p:pic>
        <p:nvPicPr>
          <p:cNvPr id="25604" name="Content Placeholder 6"/>
          <p:cNvPicPr>
            <a:picLocks noGrp="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357538" y="1269720"/>
            <a:ext cx="4098925" cy="4308475"/>
          </a:xfrm>
          <a:prstGeom prst="rect">
            <a:avLst/>
          </a:prstGeom>
        </p:spPr>
      </p:pic>
    </p:spTree>
    <p:extLst>
      <p:ext uri="{BB962C8B-B14F-4D97-AF65-F5344CB8AC3E}">
        <p14:creationId xmlns:p14="http://schemas.microsoft.com/office/powerpoint/2010/main" val="2238573829"/>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l="-24954" r="-24954"/>
          <a:stretch>
            <a:fillRect/>
          </a:stretch>
        </p:blipFill>
        <p:spPr bwMode="auto">
          <a:xfrm>
            <a:off x="811213" y="903488"/>
            <a:ext cx="7256462" cy="490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961971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atin typeface="Garamond" charset="0"/>
              </a:rPr>
              <a:t>Benefits of Virtualization</a:t>
            </a:r>
          </a:p>
        </p:txBody>
      </p:sp>
      <p:sp>
        <p:nvSpPr>
          <p:cNvPr id="13315" name="Rectangle 3"/>
          <p:cNvSpPr>
            <a:spLocks noGrp="1" noChangeArrowheads="1"/>
          </p:cNvSpPr>
          <p:nvPr>
            <p:ph type="body" idx="1"/>
          </p:nvPr>
        </p:nvSpPr>
        <p:spPr/>
        <p:txBody>
          <a:bodyPr>
            <a:normAutofit lnSpcReduction="10000"/>
          </a:bodyPr>
          <a:lstStyle/>
          <a:p>
            <a:pPr algn="just" eaLnBrk="1" hangingPunct="1">
              <a:lnSpc>
                <a:spcPct val="90000"/>
              </a:lnSpc>
            </a:pPr>
            <a:r>
              <a:rPr lang="en-US" dirty="0">
                <a:latin typeface="Arial" charset="0"/>
              </a:rPr>
              <a:t>Reduce the number of physical machines</a:t>
            </a:r>
          </a:p>
          <a:p>
            <a:pPr algn="just" eaLnBrk="1" hangingPunct="1">
              <a:lnSpc>
                <a:spcPct val="90000"/>
              </a:lnSpc>
            </a:pPr>
            <a:r>
              <a:rPr lang="en-US" dirty="0">
                <a:latin typeface="Arial" charset="0"/>
              </a:rPr>
              <a:t>Isolate environments but share hardware</a:t>
            </a:r>
          </a:p>
          <a:p>
            <a:pPr algn="just" eaLnBrk="1" hangingPunct="1">
              <a:lnSpc>
                <a:spcPct val="90000"/>
              </a:lnSpc>
            </a:pPr>
            <a:r>
              <a:rPr lang="en-US" dirty="0">
                <a:latin typeface="Arial" charset="0"/>
              </a:rPr>
              <a:t>Make better use of existing capacity</a:t>
            </a:r>
          </a:p>
          <a:p>
            <a:pPr algn="just" eaLnBrk="1" hangingPunct="1">
              <a:lnSpc>
                <a:spcPct val="90000"/>
              </a:lnSpc>
            </a:pPr>
            <a:r>
              <a:rPr lang="en-US" dirty="0">
                <a:latin typeface="Arial" charset="0"/>
              </a:rPr>
              <a:t>Virtualize Network and SAN interfaces to reduce infrastructure needs</a:t>
            </a:r>
          </a:p>
          <a:p>
            <a:pPr algn="just" eaLnBrk="1" hangingPunct="1">
              <a:lnSpc>
                <a:spcPct val="90000"/>
              </a:lnSpc>
            </a:pPr>
            <a:r>
              <a:rPr lang="en-US" dirty="0">
                <a:latin typeface="Arial" charset="0"/>
              </a:rPr>
              <a:t>Ultimately save on </a:t>
            </a:r>
            <a:r>
              <a:rPr lang="en-US" dirty="0" smtClean="0">
                <a:latin typeface="Arial" charset="0"/>
              </a:rPr>
              <a:t>maintenance</a:t>
            </a:r>
          </a:p>
          <a:p>
            <a:pPr algn="just" eaLnBrk="1" hangingPunct="1">
              <a:lnSpc>
                <a:spcPct val="90000"/>
              </a:lnSpc>
            </a:pPr>
            <a:r>
              <a:rPr lang="en-US" dirty="0" smtClean="0">
                <a:latin typeface="Arial" charset="0"/>
              </a:rPr>
              <a:t>More Flexible</a:t>
            </a:r>
          </a:p>
          <a:p>
            <a:pPr algn="just" eaLnBrk="1" hangingPunct="1">
              <a:lnSpc>
                <a:spcPct val="90000"/>
              </a:lnSpc>
            </a:pPr>
            <a:r>
              <a:rPr lang="en-US" dirty="0" smtClean="0">
                <a:latin typeface="Arial" charset="0"/>
              </a:rPr>
              <a:t>Energy Saving</a:t>
            </a:r>
            <a:endParaRPr lang="en-US" dirty="0">
              <a:latin typeface="Arial" charset="0"/>
            </a:endParaRPr>
          </a:p>
          <a:p>
            <a:pPr eaLnBrk="1" hangingPunct="1">
              <a:lnSpc>
                <a:spcPct val="90000"/>
              </a:lnSpc>
              <a:buFont typeface="Wingdings" charset="0"/>
              <a:buNone/>
            </a:pPr>
            <a:r>
              <a:rPr lang="en-US" dirty="0" smtClean="0">
                <a:latin typeface="Arial" charset="0"/>
              </a:rPr>
              <a:t>…</a:t>
            </a:r>
            <a:endParaRPr lang="en-US" dirty="0">
              <a:latin typeface="Arial" charset="0"/>
            </a:endParaRPr>
          </a:p>
        </p:txBody>
      </p:sp>
    </p:spTree>
    <p:extLst>
      <p:ext uri="{BB962C8B-B14F-4D97-AF65-F5344CB8AC3E}">
        <p14:creationId xmlns:p14="http://schemas.microsoft.com/office/powerpoint/2010/main" val="269629986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1008180" y="602325"/>
            <a:ext cx="7148916" cy="824925"/>
          </a:xfrm>
        </p:spPr>
        <p:txBody>
          <a:bodyPr lIns="0" tIns="0" rIns="0" bIns="0" anchor="t">
            <a:normAutofit/>
          </a:bodyPr>
          <a:lstStyle/>
          <a:p>
            <a:pPr algn="l" eaLnBrk="1" hangingPunct="1">
              <a:lnSpc>
                <a:spcPct val="95000"/>
              </a:lnSpc>
            </a:pPr>
            <a:r>
              <a:rPr lang="en-US" sz="3900">
                <a:solidFill>
                  <a:srgbClr val="000000"/>
                </a:solidFill>
                <a:latin typeface="Arial" charset="0"/>
              </a:rPr>
              <a:t>Cloud Computing - Green - PUE</a:t>
            </a:r>
          </a:p>
        </p:txBody>
      </p:sp>
      <p:sp>
        <p:nvSpPr>
          <p:cNvPr id="12291" name="Rectangle 2"/>
          <p:cNvSpPr>
            <a:spLocks noGrp="1" noChangeArrowheads="1"/>
          </p:cNvSpPr>
          <p:nvPr>
            <p:ph type="body" idx="1"/>
          </p:nvPr>
        </p:nvSpPr>
        <p:spPr>
          <a:xfrm>
            <a:off x="221457" y="1645920"/>
            <a:ext cx="8689658" cy="4937760"/>
          </a:xfrm>
        </p:spPr>
        <p:txBody>
          <a:bodyPr lIns="0" tIns="0" rIns="0" bIns="0"/>
          <a:lstStyle/>
          <a:p>
            <a:pPr marL="411480" lvl="1" indent="-308610">
              <a:lnSpc>
                <a:spcPct val="95000"/>
              </a:lnSpc>
              <a:spcBef>
                <a:spcPct val="0"/>
              </a:spcBef>
              <a:buClr>
                <a:srgbClr val="000000"/>
              </a:buClr>
              <a:buFontTx/>
              <a:buChar char="•"/>
            </a:pPr>
            <a:r>
              <a:rPr lang="en-US" sz="1900">
                <a:solidFill>
                  <a:srgbClr val="000000"/>
                </a:solidFill>
                <a:latin typeface="Arial" charset="0"/>
              </a:rPr>
              <a:t>How efficient is your data-center?</a:t>
            </a:r>
            <a:endParaRPr lang="en-US">
              <a:latin typeface="Times New Roman" charset="0"/>
            </a:endParaRPr>
          </a:p>
          <a:p>
            <a:pPr marL="771525" lvl="2" indent="-257175">
              <a:lnSpc>
                <a:spcPct val="95000"/>
              </a:lnSpc>
              <a:spcBef>
                <a:spcPct val="0"/>
              </a:spcBef>
              <a:buClr>
                <a:srgbClr val="000000"/>
              </a:buClr>
              <a:buSzPct val="80000"/>
              <a:buFont typeface="Courier New" charset="0"/>
              <a:buChar char="o"/>
            </a:pPr>
            <a:r>
              <a:rPr lang="en-US" sz="1900">
                <a:solidFill>
                  <a:srgbClr val="000000"/>
                </a:solidFill>
                <a:latin typeface="Arial" charset="0"/>
              </a:rPr>
              <a:t> PUE = Power Usage Effectiveness</a:t>
            </a:r>
            <a:endParaRPr lang="en-US">
              <a:latin typeface="Times New Roman" charset="0"/>
            </a:endParaRPr>
          </a:p>
          <a:p>
            <a:pPr marL="0" indent="0">
              <a:lnSpc>
                <a:spcPct val="95000"/>
              </a:lnSpc>
              <a:spcBef>
                <a:spcPct val="0"/>
              </a:spcBef>
              <a:buClr>
                <a:srgbClr val="000000"/>
              </a:buClr>
              <a:buSzPct val="80000"/>
              <a:buNone/>
            </a:pPr>
            <a:endParaRPr lang="en-US">
              <a:solidFill>
                <a:srgbClr val="000000"/>
              </a:solidFill>
              <a:latin typeface="Arial" charset="0"/>
            </a:endParaRPr>
          </a:p>
        </p:txBody>
      </p:sp>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 y="2468880"/>
            <a:ext cx="6858000" cy="370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8476828"/>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995087" y="576136"/>
            <a:ext cx="7332221" cy="795463"/>
          </a:xfrm>
        </p:spPr>
        <p:txBody>
          <a:bodyPr lIns="0" tIns="0" rIns="0" bIns="0" anchor="t">
            <a:normAutofit/>
          </a:bodyPr>
          <a:lstStyle/>
          <a:p>
            <a:pPr algn="l" eaLnBrk="1" hangingPunct="1">
              <a:lnSpc>
                <a:spcPct val="95000"/>
              </a:lnSpc>
            </a:pPr>
            <a:r>
              <a:rPr lang="en-US" sz="3900">
                <a:solidFill>
                  <a:srgbClr val="000000"/>
                </a:solidFill>
                <a:latin typeface="Arial" charset="0"/>
              </a:rPr>
              <a:t>Cloud Computing and Green IT</a:t>
            </a:r>
          </a:p>
        </p:txBody>
      </p:sp>
      <p:sp>
        <p:nvSpPr>
          <p:cNvPr id="13315" name="Rectangle 2"/>
          <p:cNvSpPr>
            <a:spLocks noGrp="1" noChangeArrowheads="1"/>
          </p:cNvSpPr>
          <p:nvPr>
            <p:ph type="body" idx="1"/>
          </p:nvPr>
        </p:nvSpPr>
        <p:spPr>
          <a:xfrm>
            <a:off x="615383" y="1645920"/>
            <a:ext cx="8295732" cy="4937760"/>
          </a:xfrm>
        </p:spPr>
        <p:txBody>
          <a:bodyPr lIns="0" tIns="0" rIns="0" bIns="0"/>
          <a:lstStyle/>
          <a:p>
            <a:pPr marL="0" indent="0">
              <a:lnSpc>
                <a:spcPct val="95000"/>
              </a:lnSpc>
              <a:spcBef>
                <a:spcPct val="0"/>
              </a:spcBef>
              <a:buNone/>
            </a:pPr>
            <a:r>
              <a:rPr lang="en-US" sz="2000" dirty="0" smtClean="0">
                <a:solidFill>
                  <a:srgbClr val="000000"/>
                </a:solidFill>
                <a:latin typeface="Arial" charset="0"/>
              </a:rPr>
              <a:t>Cloud </a:t>
            </a:r>
            <a:r>
              <a:rPr lang="en-US" sz="2000" dirty="0">
                <a:solidFill>
                  <a:srgbClr val="000000"/>
                </a:solidFill>
                <a:latin typeface="Arial" charset="0"/>
              </a:rPr>
              <a:t>Platforms PUE</a:t>
            </a:r>
            <a:endParaRPr lang="en-US" dirty="0">
              <a:latin typeface="Times New Roman" charset="0"/>
            </a:endParaRPr>
          </a:p>
          <a:p>
            <a:pPr marL="0" indent="0">
              <a:lnSpc>
                <a:spcPct val="95000"/>
              </a:lnSpc>
              <a:spcBef>
                <a:spcPct val="0"/>
              </a:spcBef>
              <a:buNone/>
            </a:pPr>
            <a:endParaRPr lang="en-US" sz="2000" dirty="0">
              <a:solidFill>
                <a:srgbClr val="000000"/>
              </a:solidFill>
              <a:latin typeface="Arial" charset="0"/>
            </a:endParaRPr>
          </a:p>
          <a:p>
            <a:pPr marL="0" indent="0">
              <a:lnSpc>
                <a:spcPct val="95000"/>
              </a:lnSpc>
              <a:spcBef>
                <a:spcPct val="0"/>
              </a:spcBef>
              <a:buNone/>
            </a:pPr>
            <a:r>
              <a:rPr lang="en-US" sz="2000" dirty="0" err="1">
                <a:solidFill>
                  <a:srgbClr val="000000"/>
                </a:solidFill>
                <a:latin typeface="Arial" charset="0"/>
              </a:rPr>
              <a:t>Salesforce</a:t>
            </a:r>
            <a:r>
              <a:rPr lang="en-US" sz="2000" dirty="0">
                <a:solidFill>
                  <a:srgbClr val="000000"/>
                </a:solidFill>
                <a:latin typeface="Arial" charset="0"/>
              </a:rPr>
              <a:t>: 1.5  ---  Google: 1.2</a:t>
            </a:r>
            <a:endParaRPr lang="en-US" dirty="0">
              <a:latin typeface="Times New Roman" charset="0"/>
            </a:endParaRPr>
          </a:p>
          <a:p>
            <a:pPr marL="0" indent="0">
              <a:lnSpc>
                <a:spcPct val="95000"/>
              </a:lnSpc>
              <a:spcBef>
                <a:spcPct val="0"/>
              </a:spcBef>
              <a:buNone/>
            </a:pPr>
            <a:endParaRPr lang="en-US" sz="2000" dirty="0">
              <a:solidFill>
                <a:srgbClr val="000000"/>
              </a:solidFill>
              <a:latin typeface="Arial" charset="0"/>
            </a:endParaRPr>
          </a:p>
          <a:p>
            <a:pPr marL="0" indent="0">
              <a:lnSpc>
                <a:spcPct val="95000"/>
              </a:lnSpc>
              <a:spcBef>
                <a:spcPct val="0"/>
              </a:spcBef>
              <a:buNone/>
            </a:pPr>
            <a:r>
              <a:rPr lang="en-US" sz="2000" dirty="0" err="1">
                <a:solidFill>
                  <a:srgbClr val="000000"/>
                </a:solidFill>
                <a:latin typeface="Arial" charset="0"/>
              </a:rPr>
              <a:t>Salesforce</a:t>
            </a:r>
            <a:r>
              <a:rPr lang="en-US" sz="2000" dirty="0">
                <a:solidFill>
                  <a:srgbClr val="000000"/>
                </a:solidFill>
                <a:latin typeface="Arial" charset="0"/>
              </a:rPr>
              <a:t> is co-located in highly efficient</a:t>
            </a:r>
            <a:br>
              <a:rPr lang="en-US" sz="2000" dirty="0">
                <a:solidFill>
                  <a:srgbClr val="000000"/>
                </a:solidFill>
                <a:latin typeface="Arial" charset="0"/>
              </a:rPr>
            </a:br>
            <a:r>
              <a:rPr lang="en-US" sz="2000" dirty="0">
                <a:solidFill>
                  <a:srgbClr val="000000"/>
                </a:solidFill>
                <a:latin typeface="Arial" charset="0"/>
              </a:rPr>
              <a:t>data centers.</a:t>
            </a:r>
            <a:endParaRPr lang="en-US" dirty="0">
              <a:latin typeface="Times New Roman" charset="0"/>
            </a:endParaRPr>
          </a:p>
          <a:p>
            <a:pPr marL="0" indent="0">
              <a:lnSpc>
                <a:spcPct val="95000"/>
              </a:lnSpc>
              <a:spcBef>
                <a:spcPct val="0"/>
              </a:spcBef>
              <a:buNone/>
            </a:pPr>
            <a:endParaRPr lang="en-US" sz="2000" dirty="0">
              <a:solidFill>
                <a:srgbClr val="000000"/>
              </a:solidFill>
              <a:latin typeface="Arial" charset="0"/>
            </a:endParaRPr>
          </a:p>
          <a:p>
            <a:pPr marL="0" indent="0">
              <a:lnSpc>
                <a:spcPct val="95000"/>
              </a:lnSpc>
              <a:spcBef>
                <a:spcPct val="0"/>
              </a:spcBef>
              <a:buNone/>
            </a:pPr>
            <a:r>
              <a:rPr lang="en-US" sz="2000" dirty="0">
                <a:solidFill>
                  <a:srgbClr val="000000"/>
                </a:solidFill>
                <a:latin typeface="Arial" charset="0"/>
              </a:rPr>
              <a:t>Google manages their own data centers.</a:t>
            </a:r>
          </a:p>
        </p:txBody>
      </p:sp>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954" y="1371600"/>
            <a:ext cx="3323556" cy="387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0668502"/>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atin typeface="Garamond" charset="0"/>
              </a:rPr>
              <a:t>Cost Reduction Example</a:t>
            </a:r>
          </a:p>
        </p:txBody>
      </p:sp>
      <p:sp>
        <p:nvSpPr>
          <p:cNvPr id="14339" name="Rectangle 3"/>
          <p:cNvSpPr>
            <a:spLocks noGrp="1" noChangeArrowheads="1"/>
          </p:cNvSpPr>
          <p:nvPr>
            <p:ph type="body" idx="1"/>
          </p:nvPr>
        </p:nvSpPr>
        <p:spPr/>
        <p:txBody>
          <a:bodyPr/>
          <a:lstStyle/>
          <a:p>
            <a:pPr eaLnBrk="1" hangingPunct="1"/>
            <a:endParaRPr lang="en-US">
              <a:latin typeface="Arial" charset="0"/>
            </a:endParaRPr>
          </a:p>
        </p:txBody>
      </p:sp>
      <p:pic>
        <p:nvPicPr>
          <p:cNvPr id="14340" name="Picture 7" descr="a2.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70664"/>
            <a:ext cx="8153400" cy="4306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528313"/>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atin typeface="Garamond" charset="0"/>
              </a:rPr>
              <a:t>Cost Reduction Example</a:t>
            </a:r>
          </a:p>
        </p:txBody>
      </p:sp>
      <p:sp>
        <p:nvSpPr>
          <p:cNvPr id="15363" name="Rectangle 3"/>
          <p:cNvSpPr>
            <a:spLocks noGrp="1" noChangeArrowheads="1"/>
          </p:cNvSpPr>
          <p:nvPr>
            <p:ph type="body" idx="1"/>
          </p:nvPr>
        </p:nvSpPr>
        <p:spPr/>
        <p:txBody>
          <a:bodyPr/>
          <a:lstStyle/>
          <a:p>
            <a:pPr eaLnBrk="1" hangingPunct="1"/>
            <a:endParaRPr lang="en-US">
              <a:latin typeface="Arial" charset="0"/>
            </a:endParaRPr>
          </a:p>
        </p:txBody>
      </p:sp>
      <p:pic>
        <p:nvPicPr>
          <p:cNvPr id="15364" name="Picture 4" descr="a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70664"/>
            <a:ext cx="8153400" cy="4306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292817"/>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US" dirty="0"/>
          </a:p>
        </p:txBody>
      </p:sp>
      <p:sp>
        <p:nvSpPr>
          <p:cNvPr id="3" name="Content Placeholder 2"/>
          <p:cNvSpPr>
            <a:spLocks noGrp="1"/>
          </p:cNvSpPr>
          <p:nvPr>
            <p:ph idx="1"/>
          </p:nvPr>
        </p:nvSpPr>
        <p:spPr>
          <a:xfrm>
            <a:off x="1043492" y="2323652"/>
            <a:ext cx="7116640" cy="3508977"/>
          </a:xfrm>
        </p:spPr>
        <p:txBody>
          <a:bodyPr/>
          <a:lstStyle/>
          <a:p>
            <a:r>
              <a:rPr lang="en-US" dirty="0" smtClean="0"/>
              <a:t>Execution Level</a:t>
            </a:r>
          </a:p>
          <a:p>
            <a:r>
              <a:rPr lang="en-US" dirty="0" smtClean="0"/>
              <a:t>Operating System</a:t>
            </a:r>
          </a:p>
          <a:p>
            <a:r>
              <a:rPr lang="en-US" dirty="0" smtClean="0"/>
              <a:t>Programming</a:t>
            </a:r>
          </a:p>
          <a:p>
            <a:r>
              <a:rPr lang="en-US" dirty="0" smtClean="0"/>
              <a:t>Application</a:t>
            </a:r>
          </a:p>
          <a:p>
            <a:r>
              <a:rPr lang="en-US" dirty="0" smtClean="0"/>
              <a:t>Storage</a:t>
            </a:r>
            <a:endParaRPr lang="en-US" dirty="0"/>
          </a:p>
        </p:txBody>
      </p:sp>
    </p:spTree>
    <p:extLst>
      <p:ext uri="{BB962C8B-B14F-4D97-AF65-F5344CB8AC3E}">
        <p14:creationId xmlns:p14="http://schemas.microsoft.com/office/powerpoint/2010/main" val="1037117743"/>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Execution</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This type of virtualization provides an execution environment for executing the applications /operating system/ byte code</a:t>
            </a:r>
            <a:r>
              <a:rPr lang="en-US" dirty="0" smtClean="0"/>
              <a:t>.</a:t>
            </a:r>
          </a:p>
          <a:p>
            <a:pPr marL="68580" indent="0">
              <a:buNone/>
            </a:pPr>
            <a:r>
              <a:rPr lang="en-US" dirty="0"/>
              <a:t>It can be achieved by: </a:t>
            </a:r>
            <a:endParaRPr lang="en-IN" dirty="0"/>
          </a:p>
          <a:p>
            <a:pPr algn="just"/>
            <a:r>
              <a:rPr lang="en-US" b="1" dirty="0"/>
              <a:t>Hardware Level Virtualization</a:t>
            </a:r>
            <a:r>
              <a:rPr lang="en-US" dirty="0"/>
              <a:t>: - This type of virtualization provides an illusion of having many resources (hardware) over one machine (hardware). Same hardware is emulated (reproduced) to many users. Same hardware can be used as different hardware.</a:t>
            </a:r>
            <a:endParaRPr lang="en-IN" dirty="0"/>
          </a:p>
          <a:p>
            <a:pPr algn="just"/>
            <a:endParaRPr lang="en-IN" dirty="0"/>
          </a:p>
          <a:p>
            <a:endParaRPr lang="en-US" dirty="0"/>
          </a:p>
        </p:txBody>
      </p:sp>
    </p:spTree>
    <p:extLst>
      <p:ext uri="{BB962C8B-B14F-4D97-AF65-F5344CB8AC3E}">
        <p14:creationId xmlns:p14="http://schemas.microsoft.com/office/powerpoint/2010/main" val="41222515"/>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Virtualization</a:t>
            </a:r>
            <a:endParaRPr lang="en-US" dirty="0"/>
          </a:p>
        </p:txBody>
      </p:sp>
      <p:sp>
        <p:nvSpPr>
          <p:cNvPr id="3" name="Content Placeholder 2"/>
          <p:cNvSpPr>
            <a:spLocks noGrp="1"/>
          </p:cNvSpPr>
          <p:nvPr>
            <p:ph idx="1"/>
          </p:nvPr>
        </p:nvSpPr>
        <p:spPr/>
        <p:txBody>
          <a:bodyPr/>
          <a:lstStyle/>
          <a:p>
            <a:pPr algn="just"/>
            <a:r>
              <a:rPr lang="en-US" dirty="0"/>
              <a:t>For it a Virtual Machine Manager (VMM) is required, which is called hypervisor. A hypervisor is one, which receives the request from created Virtual Machine for a resource and allocates the resource from underlying </a:t>
            </a:r>
            <a:r>
              <a:rPr lang="en-US" dirty="0" smtClean="0"/>
              <a:t>hardware</a:t>
            </a:r>
            <a:r>
              <a:rPr lang="en-IN" dirty="0" smtClean="0"/>
              <a:t>.</a:t>
            </a:r>
            <a:endParaRPr lang="en-US" dirty="0"/>
          </a:p>
        </p:txBody>
      </p:sp>
    </p:spTree>
    <p:extLst>
      <p:ext uri="{BB962C8B-B14F-4D97-AF65-F5344CB8AC3E}">
        <p14:creationId xmlns:p14="http://schemas.microsoft.com/office/powerpoint/2010/main" val="2058144809"/>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374874"/>
            <a:ext cx="6777317" cy="4457755"/>
          </a:xfrm>
        </p:spPr>
        <p:txBody>
          <a:bodyPr>
            <a:normAutofit/>
          </a:bodyPr>
          <a:lstStyle/>
          <a:p>
            <a:pPr algn="just"/>
            <a:r>
              <a:rPr lang="en-US" dirty="0"/>
              <a:t>In it the complete hardware is emulated by VMM to create different Virtual machines. These Virtual machines can have different </a:t>
            </a:r>
            <a:r>
              <a:rPr lang="en-US" dirty="0" smtClean="0"/>
              <a:t>operating </a:t>
            </a:r>
            <a:r>
              <a:rPr lang="en-US" dirty="0"/>
              <a:t>system if desired. Thus, actually (physically) there is only one machine with one operating system but it appears as if there are many machines with different </a:t>
            </a:r>
            <a:r>
              <a:rPr lang="en-US" dirty="0" smtClean="0"/>
              <a:t>operating </a:t>
            </a:r>
            <a:r>
              <a:rPr lang="en-US" dirty="0"/>
              <a:t>system. Application shares the resources &amp; run concurrently as if running on different machines.</a:t>
            </a:r>
            <a:endParaRPr lang="en-IN" dirty="0"/>
          </a:p>
          <a:p>
            <a:endParaRPr lang="en-US" dirty="0"/>
          </a:p>
        </p:txBody>
      </p:sp>
    </p:spTree>
    <p:extLst>
      <p:ext uri="{BB962C8B-B14F-4D97-AF65-F5344CB8AC3E}">
        <p14:creationId xmlns:p14="http://schemas.microsoft.com/office/powerpoint/2010/main" val="1252297818"/>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dirty="0" smtClean="0">
                <a:latin typeface="Garamond" charset="0"/>
              </a:rPr>
              <a:t>Hypervisor</a:t>
            </a:r>
            <a:endParaRPr lang="en-US" dirty="0">
              <a:latin typeface="Garamond" charset="0"/>
            </a:endParaRPr>
          </a:p>
        </p:txBody>
      </p:sp>
      <p:sp>
        <p:nvSpPr>
          <p:cNvPr id="19459" name="Rectangle 3"/>
          <p:cNvSpPr>
            <a:spLocks noGrp="1" noChangeArrowheads="1"/>
          </p:cNvSpPr>
          <p:nvPr>
            <p:ph type="body" idx="1"/>
          </p:nvPr>
        </p:nvSpPr>
        <p:spPr/>
        <p:txBody>
          <a:bodyPr/>
          <a:lstStyle/>
          <a:p>
            <a:pPr lvl="1" algn="just" eaLnBrk="1" hangingPunct="1"/>
            <a:r>
              <a:rPr lang="en-US" dirty="0" smtClean="0">
                <a:latin typeface="Arial" charset="0"/>
              </a:rPr>
              <a:t>A </a:t>
            </a:r>
            <a:r>
              <a:rPr lang="en-US" dirty="0">
                <a:latin typeface="Arial" charset="0"/>
              </a:rPr>
              <a:t>computing layer which allows multiple operating systems to run on a host computer at the same time. </a:t>
            </a:r>
          </a:p>
          <a:p>
            <a:pPr lvl="1" algn="just" eaLnBrk="1" hangingPunct="1"/>
            <a:r>
              <a:rPr lang="en-US" dirty="0">
                <a:latin typeface="Arial" charset="0"/>
              </a:rPr>
              <a:t>Originally developed in the 1970s as part of the IBM S/360</a:t>
            </a:r>
          </a:p>
          <a:p>
            <a:pPr lvl="1" algn="just" eaLnBrk="1" hangingPunct="1"/>
            <a:r>
              <a:rPr lang="en-US" dirty="0">
                <a:latin typeface="Arial" charset="0"/>
              </a:rPr>
              <a:t>Also known as VMM (Virtual Machine Monitor)</a:t>
            </a:r>
          </a:p>
        </p:txBody>
      </p:sp>
    </p:spTree>
    <p:extLst>
      <p:ext uri="{BB962C8B-B14F-4D97-AF65-F5344CB8AC3E}">
        <p14:creationId xmlns:p14="http://schemas.microsoft.com/office/powerpoint/2010/main" val="298361811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atin typeface="Garamond" charset="0"/>
              </a:rPr>
              <a:t>The Hypervisor</a:t>
            </a:r>
          </a:p>
        </p:txBody>
      </p:sp>
      <p:sp>
        <p:nvSpPr>
          <p:cNvPr id="20483" name="Rectangle 3"/>
          <p:cNvSpPr>
            <a:spLocks noGrp="1" noChangeArrowheads="1"/>
          </p:cNvSpPr>
          <p:nvPr>
            <p:ph type="body" idx="1"/>
          </p:nvPr>
        </p:nvSpPr>
        <p:spPr/>
        <p:txBody>
          <a:bodyPr>
            <a:normAutofit/>
          </a:bodyPr>
          <a:lstStyle/>
          <a:p>
            <a:pPr algn="just" eaLnBrk="1" hangingPunct="1">
              <a:buFont typeface="Wingdings" charset="0"/>
              <a:buNone/>
            </a:pPr>
            <a:r>
              <a:rPr lang="en-US" sz="2000" dirty="0" smtClean="0">
                <a:latin typeface="Arial" charset="0"/>
              </a:rPr>
              <a:t> Conceptual </a:t>
            </a:r>
            <a:r>
              <a:rPr lang="en-US" sz="2000" dirty="0">
                <a:latin typeface="Arial" charset="0"/>
              </a:rPr>
              <a:t>diagram of typical </a:t>
            </a:r>
            <a:r>
              <a:rPr lang="en-US" sz="2000" dirty="0" smtClean="0">
                <a:latin typeface="Arial" charset="0"/>
              </a:rPr>
              <a:t>server configuration without virtualization</a:t>
            </a:r>
            <a:endParaRPr lang="en-US" sz="2000" dirty="0">
              <a:latin typeface="Arial" charset="0"/>
            </a:endParaRPr>
          </a:p>
        </p:txBody>
      </p:sp>
      <p:pic>
        <p:nvPicPr>
          <p:cNvPr id="20484" name="Picture 4" descr="o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352800"/>
            <a:ext cx="4318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5557712"/>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atin typeface="Garamond" charset="0"/>
              </a:rPr>
              <a:t>The Hypervisor</a:t>
            </a:r>
          </a:p>
        </p:txBody>
      </p:sp>
      <p:sp>
        <p:nvSpPr>
          <p:cNvPr id="21507" name="Rectangle 3"/>
          <p:cNvSpPr>
            <a:spLocks noGrp="1" noChangeArrowheads="1"/>
          </p:cNvSpPr>
          <p:nvPr>
            <p:ph type="body" idx="1"/>
          </p:nvPr>
        </p:nvSpPr>
        <p:spPr/>
        <p:txBody>
          <a:bodyPr/>
          <a:lstStyle/>
          <a:p>
            <a:pPr eaLnBrk="1" hangingPunct="1"/>
            <a:r>
              <a:rPr lang="en-US">
                <a:latin typeface="Arial" charset="0"/>
              </a:rPr>
              <a:t>The role of the Hypervisor in supporting Guest Operating Systems on a single machine.</a:t>
            </a:r>
          </a:p>
        </p:txBody>
      </p:sp>
      <p:pic>
        <p:nvPicPr>
          <p:cNvPr id="21508" name="Picture 4" descr="hypervis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505200"/>
            <a:ext cx="4318000"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3133783"/>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Hypervisor is a software program that manages multiple operating systems (or multiple instances of the same operating system) on a single computer system. The hypervisor manages the system's processor, memory, and other resources to allocate what each operating system requires. </a:t>
            </a:r>
          </a:p>
          <a:p>
            <a:endParaRPr lang="en-US" dirty="0"/>
          </a:p>
        </p:txBody>
      </p:sp>
    </p:spTree>
    <p:extLst>
      <p:ext uri="{BB962C8B-B14F-4D97-AF65-F5344CB8AC3E}">
        <p14:creationId xmlns:p14="http://schemas.microsoft.com/office/powerpoint/2010/main" val="1690443945"/>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Hypervisor	</a:t>
            </a:r>
            <a:endParaRPr lang="en-US" dirty="0"/>
          </a:p>
        </p:txBody>
      </p:sp>
      <p:sp>
        <p:nvSpPr>
          <p:cNvPr id="3" name="Content Placeholder 2"/>
          <p:cNvSpPr>
            <a:spLocks noGrp="1"/>
          </p:cNvSpPr>
          <p:nvPr>
            <p:ph idx="1"/>
          </p:nvPr>
        </p:nvSpPr>
        <p:spPr/>
        <p:txBody>
          <a:bodyPr/>
          <a:lstStyle/>
          <a:p>
            <a:r>
              <a:rPr lang="en-US" dirty="0" smtClean="0"/>
              <a:t>Two Types</a:t>
            </a:r>
          </a:p>
          <a:p>
            <a:r>
              <a:rPr lang="en-US" dirty="0" smtClean="0"/>
              <a:t>Type1:Bare Metal</a:t>
            </a:r>
            <a:r>
              <a:rPr lang="en-US" dirty="0" smtClean="0"/>
              <a:t>, Native </a:t>
            </a:r>
            <a:r>
              <a:rPr lang="en-US" dirty="0" smtClean="0"/>
              <a:t>(Hosted without host O/</a:t>
            </a:r>
            <a:r>
              <a:rPr lang="en-US" dirty="0"/>
              <a:t>S</a:t>
            </a:r>
            <a:r>
              <a:rPr lang="en-US" dirty="0" smtClean="0"/>
              <a:t>)</a:t>
            </a:r>
          </a:p>
          <a:p>
            <a:r>
              <a:rPr lang="en-US" dirty="0" smtClean="0"/>
              <a:t>Type2: (Hosted on Host O/S)</a:t>
            </a:r>
          </a:p>
          <a:p>
            <a:endParaRPr lang="en-US" dirty="0"/>
          </a:p>
        </p:txBody>
      </p:sp>
    </p:spTree>
    <p:extLst>
      <p:ext uri="{BB962C8B-B14F-4D97-AF65-F5344CB8AC3E}">
        <p14:creationId xmlns:p14="http://schemas.microsoft.com/office/powerpoint/2010/main" val="270772190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755" y="1332514"/>
            <a:ext cx="9133363" cy="5514976"/>
          </a:xfrm>
          <a:prstGeom prst="rect">
            <a:avLst/>
          </a:prstGeom>
          <a:noFill/>
          <a:ln w="9525">
            <a:noFill/>
            <a:miter lim="800000"/>
            <a:headEnd/>
            <a:tailEnd/>
          </a:ln>
        </p:spPr>
      </p:pic>
      <p:sp>
        <p:nvSpPr>
          <p:cNvPr id="5" name="TextBox 4"/>
          <p:cNvSpPr txBox="1"/>
          <p:nvPr/>
        </p:nvSpPr>
        <p:spPr>
          <a:xfrm>
            <a:off x="389309" y="747739"/>
            <a:ext cx="8584007" cy="584775"/>
          </a:xfrm>
          <a:prstGeom prst="rect">
            <a:avLst/>
          </a:prstGeom>
          <a:noFill/>
        </p:spPr>
        <p:txBody>
          <a:bodyPr wrap="square" rtlCol="0">
            <a:spAutoFit/>
          </a:bodyPr>
          <a:lstStyle/>
          <a:p>
            <a:pPr algn="ctr"/>
            <a:r>
              <a:rPr lang="en-US" sz="3200" b="1" dirty="0" smtClean="0"/>
              <a:t>BARE-MATEL ARCHITECTURE</a:t>
            </a:r>
            <a:endParaRPr lang="en-US" sz="3200" b="1" dirty="0"/>
          </a:p>
        </p:txBody>
      </p:sp>
    </p:spTree>
    <p:extLst>
      <p:ext uri="{BB962C8B-B14F-4D97-AF65-F5344CB8AC3E}">
        <p14:creationId xmlns:p14="http://schemas.microsoft.com/office/powerpoint/2010/main" val="4040138810"/>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295" y="341400"/>
            <a:ext cx="8584007" cy="584775"/>
          </a:xfrm>
          <a:prstGeom prst="rect">
            <a:avLst/>
          </a:prstGeom>
          <a:noFill/>
        </p:spPr>
        <p:txBody>
          <a:bodyPr wrap="square" rtlCol="0">
            <a:spAutoFit/>
          </a:bodyPr>
          <a:lstStyle/>
          <a:p>
            <a:pPr algn="ctr"/>
            <a:r>
              <a:rPr lang="en-US" sz="3200" b="1" dirty="0" smtClean="0"/>
              <a:t>HOSTED ARCHITECTURE</a:t>
            </a:r>
            <a:endParaRPr lang="en-US" sz="3200" b="1" dirty="0"/>
          </a:p>
        </p:txBody>
      </p:sp>
      <p:pic>
        <p:nvPicPr>
          <p:cNvPr id="3" name="Picture 2"/>
          <p:cNvPicPr>
            <a:picLocks noChangeAspect="1"/>
          </p:cNvPicPr>
          <p:nvPr/>
        </p:nvPicPr>
        <p:blipFill>
          <a:blip r:embed="rId2"/>
          <a:stretch>
            <a:fillRect/>
          </a:stretch>
        </p:blipFill>
        <p:spPr>
          <a:xfrm>
            <a:off x="0" y="1056286"/>
            <a:ext cx="9144000" cy="5810167"/>
          </a:xfrm>
          <a:prstGeom prst="rect">
            <a:avLst/>
          </a:prstGeom>
        </p:spPr>
      </p:pic>
    </p:spTree>
    <p:extLst>
      <p:ext uri="{BB962C8B-B14F-4D97-AF65-F5344CB8AC3E}">
        <p14:creationId xmlns:p14="http://schemas.microsoft.com/office/powerpoint/2010/main" val="1478865424"/>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456164"/>
            <a:ext cx="7024744" cy="1143000"/>
          </a:xfrm>
        </p:spPr>
        <p:txBody>
          <a:bodyPr>
            <a:normAutofit fontScale="90000"/>
          </a:bodyPr>
          <a:lstStyle/>
          <a:p>
            <a:r>
              <a:rPr lang="en-US" dirty="0" smtClean="0"/>
              <a:t>Hardware Virtualization Types</a:t>
            </a:r>
            <a:endParaRPr lang="en-US" dirty="0"/>
          </a:p>
        </p:txBody>
      </p:sp>
      <p:sp>
        <p:nvSpPr>
          <p:cNvPr id="3" name="Content Placeholder 2"/>
          <p:cNvSpPr>
            <a:spLocks noGrp="1"/>
          </p:cNvSpPr>
          <p:nvPr>
            <p:ph idx="1"/>
          </p:nvPr>
        </p:nvSpPr>
        <p:spPr>
          <a:xfrm>
            <a:off x="1043492" y="1710178"/>
            <a:ext cx="6777317" cy="4122452"/>
          </a:xfrm>
        </p:spPr>
        <p:txBody>
          <a:bodyPr>
            <a:normAutofit fontScale="70000" lnSpcReduction="20000"/>
          </a:bodyPr>
          <a:lstStyle/>
          <a:p>
            <a:pPr lvl="0" algn="just"/>
            <a:r>
              <a:rPr lang="en-US" b="1" dirty="0"/>
              <a:t>Full virtualization</a:t>
            </a:r>
            <a:r>
              <a:rPr lang="en-US" dirty="0"/>
              <a:t>:- This allow running an application / </a:t>
            </a:r>
            <a:r>
              <a:rPr lang="en-US" dirty="0" smtClean="0"/>
              <a:t>operating </a:t>
            </a:r>
            <a:r>
              <a:rPr lang="en-US" dirty="0"/>
              <a:t>system or virtual machine, in the same way as it would have run on host, without any modification in the code. It provides complete isolation</a:t>
            </a:r>
            <a:r>
              <a:rPr lang="en-US" dirty="0" smtClean="0"/>
              <a:t>.</a:t>
            </a:r>
          </a:p>
          <a:p>
            <a:pPr marL="68580" lvl="0" indent="0" algn="just">
              <a:buNone/>
            </a:pPr>
            <a:endParaRPr lang="en-IN" dirty="0"/>
          </a:p>
          <a:p>
            <a:pPr lvl="0" algn="just"/>
            <a:r>
              <a:rPr lang="en-US" b="1" dirty="0"/>
              <a:t>Para virtualization</a:t>
            </a:r>
            <a:r>
              <a:rPr lang="en-US" dirty="0"/>
              <a:t>:- In it the guests need to be modified. The </a:t>
            </a:r>
            <a:r>
              <a:rPr lang="en-US" dirty="0" smtClean="0"/>
              <a:t>operating system </a:t>
            </a:r>
            <a:r>
              <a:rPr lang="en-US" dirty="0"/>
              <a:t>to be put on virtual machine need some modifications, this they are generally used for open source operation </a:t>
            </a:r>
            <a:r>
              <a:rPr lang="en-US" dirty="0" smtClean="0"/>
              <a:t>system.</a:t>
            </a:r>
            <a:r>
              <a:rPr lang="en-US" dirty="0"/>
              <a:t> </a:t>
            </a:r>
            <a:endParaRPr lang="en-US" dirty="0" smtClean="0"/>
          </a:p>
          <a:p>
            <a:pPr marL="68580" lvl="0" indent="0" algn="just">
              <a:buNone/>
            </a:pPr>
            <a:endParaRPr lang="en-IN" dirty="0"/>
          </a:p>
          <a:p>
            <a:pPr lvl="0" algn="just"/>
            <a:r>
              <a:rPr lang="en-US" b="1" dirty="0"/>
              <a:t>Partial Virtualization</a:t>
            </a:r>
            <a:r>
              <a:rPr lang="en-US" dirty="0"/>
              <a:t>:- It provides partial emulation of underlying hardware, thus the complete hardware (resources) are not virtualized, only some part is virtualized. It results not complete isolation of guest </a:t>
            </a:r>
            <a:r>
              <a:rPr lang="en-US" dirty="0" smtClean="0"/>
              <a:t>operating </a:t>
            </a:r>
            <a:r>
              <a:rPr lang="en-US" dirty="0"/>
              <a:t>system. Many application can run transparently, but not all the features of </a:t>
            </a:r>
            <a:r>
              <a:rPr lang="en-US" dirty="0" smtClean="0"/>
              <a:t>operating system can </a:t>
            </a:r>
            <a:r>
              <a:rPr lang="en-US" dirty="0"/>
              <a:t>be supported.</a:t>
            </a:r>
            <a:endParaRPr lang="en-IN" dirty="0"/>
          </a:p>
          <a:p>
            <a:endParaRPr lang="en-US" dirty="0"/>
          </a:p>
        </p:txBody>
      </p:sp>
    </p:spTree>
    <p:extLst>
      <p:ext uri="{BB962C8B-B14F-4D97-AF65-F5344CB8AC3E}">
        <p14:creationId xmlns:p14="http://schemas.microsoft.com/office/powerpoint/2010/main" val="1186765915"/>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805620"/>
            <a:ext cx="6777317" cy="5027010"/>
          </a:xfrm>
        </p:spPr>
        <p:txBody>
          <a:bodyPr>
            <a:normAutofit/>
          </a:bodyPr>
          <a:lstStyle/>
          <a:p>
            <a:pPr algn="just"/>
            <a:r>
              <a:rPr lang="en-US" sz="1700" dirty="0">
                <a:latin typeface="Arial"/>
                <a:cs typeface="Arial"/>
              </a:rPr>
              <a:t>Binary Translation </a:t>
            </a:r>
          </a:p>
          <a:p>
            <a:pPr algn="just"/>
            <a:r>
              <a:rPr lang="en-US" sz="1700" dirty="0" smtClean="0">
                <a:latin typeface="Arial"/>
                <a:cs typeface="Arial"/>
              </a:rPr>
              <a:t>Kernel </a:t>
            </a:r>
            <a:r>
              <a:rPr lang="en-US" sz="1700" dirty="0">
                <a:latin typeface="Arial"/>
                <a:cs typeface="Arial"/>
              </a:rPr>
              <a:t>code of non-</a:t>
            </a:r>
            <a:r>
              <a:rPr lang="en-US" sz="1700" dirty="0" err="1">
                <a:latin typeface="Arial"/>
                <a:cs typeface="Arial"/>
              </a:rPr>
              <a:t>virtualizable</a:t>
            </a:r>
            <a:r>
              <a:rPr lang="en-US" sz="1700" dirty="0">
                <a:latin typeface="Arial"/>
                <a:cs typeface="Arial"/>
              </a:rPr>
              <a:t> instructions are translated to replace with new sequences of instructions that have the intended effect on the virtual hardware. </a:t>
            </a:r>
          </a:p>
          <a:p>
            <a:pPr algn="just"/>
            <a:r>
              <a:rPr lang="en-US" sz="1700" dirty="0" smtClean="0">
                <a:latin typeface="Arial"/>
                <a:cs typeface="Arial"/>
              </a:rPr>
              <a:t>Each </a:t>
            </a:r>
            <a:r>
              <a:rPr lang="en-US" sz="1700" dirty="0">
                <a:latin typeface="Arial"/>
                <a:cs typeface="Arial"/>
              </a:rPr>
              <a:t>virtual machine monitor provides each Virtual Machine with all the services of the physical system, including a virtual BIOS, virtual devices and virtualized memory management. </a:t>
            </a:r>
          </a:p>
          <a:p>
            <a:pPr algn="just"/>
            <a:r>
              <a:rPr lang="en-US" sz="1700" dirty="0" smtClean="0">
                <a:latin typeface="Arial"/>
                <a:cs typeface="Arial"/>
              </a:rPr>
              <a:t>This </a:t>
            </a:r>
            <a:r>
              <a:rPr lang="en-US" sz="1700" dirty="0">
                <a:latin typeface="Arial"/>
                <a:cs typeface="Arial"/>
              </a:rPr>
              <a:t>combination of binary translation and direct execution provides Full Virtualization as the guest OS is fully abstracted from the underlying hardware by the Virtualization layer. </a:t>
            </a:r>
          </a:p>
          <a:p>
            <a:pPr algn="just"/>
            <a:r>
              <a:rPr lang="en-US" sz="1700" dirty="0" smtClean="0">
                <a:latin typeface="Arial"/>
                <a:cs typeface="Arial"/>
              </a:rPr>
              <a:t>The </a:t>
            </a:r>
            <a:r>
              <a:rPr lang="en-US" sz="1700" dirty="0">
                <a:latin typeface="Arial"/>
                <a:cs typeface="Arial"/>
              </a:rPr>
              <a:t>guest OS is not aware it is being virtualized and requires no modification. </a:t>
            </a:r>
          </a:p>
          <a:p>
            <a:pPr algn="just"/>
            <a:r>
              <a:rPr lang="en-US" sz="1700" dirty="0" smtClean="0">
                <a:latin typeface="Arial"/>
                <a:cs typeface="Arial"/>
              </a:rPr>
              <a:t>The </a:t>
            </a:r>
            <a:r>
              <a:rPr lang="en-US" sz="1700" dirty="0">
                <a:latin typeface="Arial"/>
                <a:cs typeface="Arial"/>
              </a:rPr>
              <a:t>hypervisor translates all operating system instructions on the fly and caches the results for future use, while user level instructions run unmodified at native speed. </a:t>
            </a:r>
          </a:p>
          <a:p>
            <a:pPr algn="just"/>
            <a:r>
              <a:rPr lang="en-US" sz="1700" dirty="0" smtClean="0">
                <a:latin typeface="Arial"/>
                <a:cs typeface="Arial"/>
              </a:rPr>
              <a:t>Examples VMware </a:t>
            </a:r>
            <a:endParaRPr lang="en-US" sz="1700" dirty="0">
              <a:latin typeface="Arial"/>
              <a:cs typeface="Arial"/>
            </a:endParaRPr>
          </a:p>
          <a:p>
            <a:pPr algn="just"/>
            <a:r>
              <a:rPr lang="en-US" sz="1700" dirty="0" smtClean="0">
                <a:latin typeface="Arial"/>
                <a:cs typeface="Arial"/>
              </a:rPr>
              <a:t>Microsoft </a:t>
            </a:r>
            <a:r>
              <a:rPr lang="en-US" sz="1700" dirty="0">
                <a:latin typeface="Arial"/>
                <a:cs typeface="Arial"/>
              </a:rPr>
              <a:t>Virtual Server </a:t>
            </a:r>
          </a:p>
          <a:p>
            <a:pPr marL="68580" indent="0">
              <a:buNone/>
            </a:pPr>
            <a:endParaRPr lang="en-US" dirty="0"/>
          </a:p>
          <a:p>
            <a:pPr marL="68580" indent="0">
              <a:buNone/>
            </a:pPr>
            <a:endParaRPr lang="en-US" dirty="0"/>
          </a:p>
        </p:txBody>
      </p:sp>
    </p:spTree>
    <p:extLst>
      <p:ext uri="{BB962C8B-B14F-4D97-AF65-F5344CB8AC3E}">
        <p14:creationId xmlns:p14="http://schemas.microsoft.com/office/powerpoint/2010/main" val="1344657365"/>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a:p>
        </p:txBody>
      </p:sp>
      <p:pic>
        <p:nvPicPr>
          <p:cNvPr id="4" name="Picture 3" descr="full_virt.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913" y="819273"/>
            <a:ext cx="7428540" cy="5311621"/>
          </a:xfrm>
          <a:prstGeom prst="rect">
            <a:avLst/>
          </a:prstGeom>
        </p:spPr>
      </p:pic>
    </p:spTree>
    <p:extLst>
      <p:ext uri="{BB962C8B-B14F-4D97-AF65-F5344CB8AC3E}">
        <p14:creationId xmlns:p14="http://schemas.microsoft.com/office/powerpoint/2010/main" val="4045670642"/>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901202"/>
            <a:ext cx="6777317" cy="4931428"/>
          </a:xfrm>
        </p:spPr>
        <p:txBody>
          <a:bodyPr>
            <a:normAutofit fontScale="77500" lnSpcReduction="20000"/>
          </a:bodyPr>
          <a:lstStyle/>
          <a:p>
            <a:pPr algn="just"/>
            <a:r>
              <a:rPr lang="en-US" dirty="0" err="1">
                <a:latin typeface="Arial"/>
                <a:cs typeface="Arial"/>
              </a:rPr>
              <a:t>Paravirtualization</a:t>
            </a:r>
            <a:r>
              <a:rPr lang="en-US" dirty="0">
                <a:latin typeface="Arial"/>
                <a:cs typeface="Arial"/>
              </a:rPr>
              <a:t> – via a modified OS kernel as guest OS </a:t>
            </a:r>
          </a:p>
          <a:p>
            <a:pPr algn="just"/>
            <a:r>
              <a:rPr lang="en-US" dirty="0" err="1" smtClean="0">
                <a:latin typeface="Arial"/>
                <a:cs typeface="Arial"/>
              </a:rPr>
              <a:t>Paravirtualization</a:t>
            </a:r>
            <a:r>
              <a:rPr lang="en-US" dirty="0" smtClean="0">
                <a:latin typeface="Arial"/>
                <a:cs typeface="Arial"/>
              </a:rPr>
              <a:t> involves modifying the OS kernel to </a:t>
            </a:r>
            <a:r>
              <a:rPr lang="en-US" dirty="0">
                <a:latin typeface="Arial"/>
                <a:cs typeface="Arial"/>
              </a:rPr>
              <a:t>replace non-</a:t>
            </a:r>
            <a:r>
              <a:rPr lang="en-US" dirty="0" err="1">
                <a:latin typeface="Arial"/>
                <a:cs typeface="Arial"/>
              </a:rPr>
              <a:t>virtualizable</a:t>
            </a:r>
            <a:r>
              <a:rPr lang="en-US" dirty="0">
                <a:latin typeface="Arial"/>
                <a:cs typeface="Arial"/>
              </a:rPr>
              <a:t> instructions with </a:t>
            </a:r>
            <a:r>
              <a:rPr lang="en-US" dirty="0" err="1">
                <a:latin typeface="Arial"/>
                <a:cs typeface="Arial"/>
              </a:rPr>
              <a:t>hypercalls</a:t>
            </a:r>
            <a:r>
              <a:rPr lang="en-US" dirty="0">
                <a:latin typeface="Arial"/>
                <a:cs typeface="Arial"/>
              </a:rPr>
              <a:t> that communicate directly with the Virtualization layer hypervisor. </a:t>
            </a:r>
          </a:p>
          <a:p>
            <a:pPr algn="just"/>
            <a:r>
              <a:rPr lang="en-US" dirty="0" smtClean="0">
                <a:latin typeface="Arial"/>
                <a:cs typeface="Arial"/>
              </a:rPr>
              <a:t>The hypervisor also provides </a:t>
            </a:r>
            <a:r>
              <a:rPr lang="en-US" dirty="0" err="1" smtClean="0">
                <a:latin typeface="Arial"/>
                <a:cs typeface="Arial"/>
              </a:rPr>
              <a:t>hypercall</a:t>
            </a:r>
            <a:r>
              <a:rPr lang="en-US" dirty="0" smtClean="0">
                <a:latin typeface="Arial"/>
                <a:cs typeface="Arial"/>
              </a:rPr>
              <a:t> interfaces for other </a:t>
            </a:r>
            <a:r>
              <a:rPr lang="en-US" dirty="0">
                <a:latin typeface="Arial"/>
                <a:cs typeface="Arial"/>
              </a:rPr>
              <a:t>critical kernel operations such as memory management, interrupt handling and time keeping. </a:t>
            </a:r>
          </a:p>
          <a:p>
            <a:pPr algn="just"/>
            <a:r>
              <a:rPr lang="en-US" dirty="0" err="1" smtClean="0">
                <a:latin typeface="Arial"/>
                <a:cs typeface="Arial"/>
              </a:rPr>
              <a:t>Paravirtualization</a:t>
            </a:r>
            <a:r>
              <a:rPr lang="en-US" dirty="0" smtClean="0">
                <a:latin typeface="Arial"/>
                <a:cs typeface="Arial"/>
              </a:rPr>
              <a:t> </a:t>
            </a:r>
            <a:r>
              <a:rPr lang="en-US" dirty="0">
                <a:latin typeface="Arial"/>
                <a:cs typeface="Arial"/>
              </a:rPr>
              <a:t>is different from full Virtualization, where the unmodified OS does not know it is virtualized and sensitive OS calls are trapped using binary translation. </a:t>
            </a:r>
          </a:p>
          <a:p>
            <a:pPr algn="just"/>
            <a:r>
              <a:rPr lang="en-US" dirty="0" smtClean="0">
                <a:latin typeface="Arial"/>
                <a:cs typeface="Arial"/>
              </a:rPr>
              <a:t>It </a:t>
            </a:r>
            <a:r>
              <a:rPr lang="en-US" dirty="0">
                <a:latin typeface="Arial"/>
                <a:cs typeface="Arial"/>
              </a:rPr>
              <a:t>is very difficult to build the more sophisticated binary translation support necessary for full Virtualization, modifying the guest OS to enable </a:t>
            </a:r>
            <a:r>
              <a:rPr lang="en-US" dirty="0" err="1">
                <a:latin typeface="Arial"/>
                <a:cs typeface="Arial"/>
              </a:rPr>
              <a:t>paravirtualization</a:t>
            </a:r>
            <a:r>
              <a:rPr lang="en-US" dirty="0">
                <a:latin typeface="Arial"/>
                <a:cs typeface="Arial"/>
              </a:rPr>
              <a:t> is relatively easy. </a:t>
            </a:r>
          </a:p>
          <a:p>
            <a:pPr algn="just"/>
            <a:r>
              <a:rPr lang="en-US" dirty="0" err="1" smtClean="0">
                <a:latin typeface="Arial"/>
                <a:cs typeface="Arial"/>
              </a:rPr>
              <a:t>Paravirtualization</a:t>
            </a:r>
            <a:r>
              <a:rPr lang="en-US" dirty="0" smtClean="0">
                <a:latin typeface="Arial"/>
                <a:cs typeface="Arial"/>
              </a:rPr>
              <a:t> </a:t>
            </a:r>
            <a:r>
              <a:rPr lang="en-US" dirty="0" err="1" smtClean="0">
                <a:latin typeface="Arial"/>
                <a:cs typeface="Arial"/>
              </a:rPr>
              <a:t>cannotsupport</a:t>
            </a:r>
            <a:r>
              <a:rPr lang="en-US" dirty="0" smtClean="0">
                <a:latin typeface="Arial"/>
                <a:cs typeface="Arial"/>
              </a:rPr>
              <a:t> </a:t>
            </a:r>
            <a:r>
              <a:rPr lang="en-US" dirty="0" err="1" smtClean="0">
                <a:latin typeface="Arial"/>
                <a:cs typeface="Arial"/>
              </a:rPr>
              <a:t>unmodifiedOS</a:t>
            </a:r>
            <a:r>
              <a:rPr lang="en-US" dirty="0" smtClean="0">
                <a:latin typeface="Arial"/>
                <a:cs typeface="Arial"/>
              </a:rPr>
              <a:t> </a:t>
            </a:r>
            <a:endParaRPr lang="en-US" dirty="0">
              <a:latin typeface="Arial"/>
              <a:cs typeface="Arial"/>
            </a:endParaRPr>
          </a:p>
          <a:p>
            <a:pPr algn="just"/>
            <a:r>
              <a:rPr lang="en-US" dirty="0" smtClean="0">
                <a:latin typeface="Arial"/>
                <a:cs typeface="Arial"/>
              </a:rPr>
              <a:t>Example</a:t>
            </a:r>
            <a:r>
              <a:rPr lang="en-US" dirty="0">
                <a:latin typeface="Arial"/>
                <a:cs typeface="Arial"/>
              </a:rPr>
              <a:t>: </a:t>
            </a:r>
          </a:p>
          <a:p>
            <a:pPr algn="just"/>
            <a:r>
              <a:rPr lang="en-US" dirty="0" err="1" smtClean="0">
                <a:latin typeface="Arial"/>
                <a:cs typeface="Arial"/>
              </a:rPr>
              <a:t>Xen</a:t>
            </a:r>
            <a:r>
              <a:rPr lang="en-US" dirty="0" smtClean="0">
                <a:latin typeface="Arial"/>
                <a:cs typeface="Arial"/>
              </a:rPr>
              <a:t> </a:t>
            </a:r>
            <a:r>
              <a:rPr lang="en-US" dirty="0">
                <a:latin typeface="Arial"/>
                <a:cs typeface="Arial"/>
              </a:rPr>
              <a:t>-- modified Linux kernel and a version of Windows XP </a:t>
            </a:r>
          </a:p>
          <a:p>
            <a:pPr marL="68580" indent="0">
              <a:buNone/>
            </a:pPr>
            <a:endParaRPr lang="en-US" dirty="0"/>
          </a:p>
        </p:txBody>
      </p:sp>
    </p:spTree>
    <p:extLst>
      <p:ext uri="{BB962C8B-B14F-4D97-AF65-F5344CB8AC3E}">
        <p14:creationId xmlns:p14="http://schemas.microsoft.com/office/powerpoint/2010/main" val="199597580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ara_virt.tiff"/>
          <p:cNvPicPr>
            <a:picLocks noGrp="1" noChangeAspect="1"/>
          </p:cNvPicPr>
          <p:nvPr>
            <p:ph idx="1"/>
          </p:nvPr>
        </p:nvPicPr>
        <p:blipFill>
          <a:blip r:embed="rId2">
            <a:extLst>
              <a:ext uri="{28A0092B-C50C-407E-A947-70E740481C1C}">
                <a14:useLocalDpi xmlns:a14="http://schemas.microsoft.com/office/drawing/2010/main" val="0"/>
              </a:ext>
            </a:extLst>
          </a:blip>
          <a:srcRect t="9286" b="9286"/>
          <a:stretch>
            <a:fillRect/>
          </a:stretch>
        </p:blipFill>
        <p:spPr>
          <a:xfrm>
            <a:off x="1042988" y="736600"/>
            <a:ext cx="6777037" cy="5095875"/>
          </a:xfrm>
        </p:spPr>
      </p:pic>
    </p:spTree>
    <p:extLst>
      <p:ext uri="{BB962C8B-B14F-4D97-AF65-F5344CB8AC3E}">
        <p14:creationId xmlns:p14="http://schemas.microsoft.com/office/powerpoint/2010/main" val="2775207950"/>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4"/>
          <p:cNvSpPr>
            <a:spLocks noGrp="1" noChangeArrowheads="1"/>
          </p:cNvSpPr>
          <p:nvPr>
            <p:ph type="title"/>
          </p:nvPr>
        </p:nvSpPr>
        <p:spPr bwMode="auto">
          <a:xfrm>
            <a:off x="1043490" y="456164"/>
            <a:ext cx="7024744" cy="1143000"/>
          </a:xfrm>
          <a:ln>
            <a:miter lim="800000"/>
            <a:headEnd/>
            <a:tailEnd/>
          </a:ln>
        </p:spPr>
        <p:txBody>
          <a:bodyPr wrap="square" lIns="91440" tIns="45720" rIns="91440" bIns="45720" numCol="1" anchor="t" anchorCtr="0" compatLnSpc="1">
            <a:prstTxWarp prst="textNoShape">
              <a:avLst/>
            </a:prstTxWarp>
          </a:bodyPr>
          <a:lstStyle/>
          <a:p>
            <a:pPr eaLnBrk="1" hangingPunct="1">
              <a:defRPr/>
            </a:pPr>
            <a:r>
              <a:rPr lang="en-US" sz="2400" cap="none" dirty="0">
                <a:solidFill>
                  <a:schemeClr val="tx1"/>
                </a:solidFill>
                <a:latin typeface="Arial Rounded MT Bold" charset="0"/>
                <a:cs typeface="+mj-cs"/>
              </a:rPr>
              <a:t>K</a:t>
            </a:r>
            <a:r>
              <a:rPr lang="en-US" sz="2400" cap="none" dirty="0">
                <a:solidFill>
                  <a:schemeClr val="tx1"/>
                </a:solidFill>
                <a:effectLst>
                  <a:outerShdw blurRad="38100" dist="38100" dir="2700000" algn="tl">
                    <a:srgbClr val="DDDDDD"/>
                  </a:outerShdw>
                </a:effectLst>
                <a:latin typeface="Arial Rounded MT Bold" charset="0"/>
                <a:cs typeface="+mj-cs"/>
              </a:rPr>
              <a:t>EY FEATURES </a:t>
            </a:r>
          </a:p>
        </p:txBody>
      </p:sp>
      <p:graphicFrame>
        <p:nvGraphicFramePr>
          <p:cNvPr id="34818" name="Object 2"/>
          <p:cNvGraphicFramePr>
            <a:graphicFrameLocks noGrp="1" noChangeAspect="1"/>
          </p:cNvGraphicFramePr>
          <p:nvPr>
            <p:ph idx="4294967295"/>
            <p:extLst>
              <p:ext uri="{D42A27DB-BD31-4B8C-83A1-F6EECF244321}">
                <p14:modId xmlns:p14="http://schemas.microsoft.com/office/powerpoint/2010/main" val="1579134190"/>
              </p:ext>
            </p:extLst>
          </p:nvPr>
        </p:nvGraphicFramePr>
        <p:xfrm>
          <a:off x="709613" y="1138238"/>
          <a:ext cx="1590675" cy="1495425"/>
        </p:xfrm>
        <a:graphic>
          <a:graphicData uri="http://schemas.openxmlformats.org/presentationml/2006/ole">
            <mc:AlternateContent xmlns:mc="http://schemas.openxmlformats.org/markup-compatibility/2006">
              <mc:Choice xmlns:v="urn:schemas-microsoft-com:vml" Requires="v">
                <p:oleObj spid="_x0000_s1045" name="Image" r:id="rId3" imgW="2866667" imgH="2695238" progId="Photoshop.Image.7">
                  <p:embed/>
                </p:oleObj>
              </mc:Choice>
              <mc:Fallback>
                <p:oleObj name="Image" r:id="rId3" imgW="2866667" imgH="2695238" progId="Photoshop.Image.7">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13" y="1138238"/>
                        <a:ext cx="1590675"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val="1"/>
                        </a:ext>
                      </a:extLst>
                    </p:spPr>
                  </p:pic>
                </p:oleObj>
              </mc:Fallback>
            </mc:AlternateContent>
          </a:graphicData>
        </a:graphic>
      </p:graphicFrame>
      <p:pic>
        <p:nvPicPr>
          <p:cNvPr id="34819" name="Picture 7" descr="isolation_archite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568325" y="2900363"/>
            <a:ext cx="1731963"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8" descr="encapsu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662714" y="4397375"/>
            <a:ext cx="2005013"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9"/>
          <p:cNvSpPr>
            <a:spLocks noChangeArrowheads="1"/>
          </p:cNvSpPr>
          <p:nvPr/>
        </p:nvSpPr>
        <p:spPr bwMode="auto">
          <a:xfrm>
            <a:off x="2300288" y="1266825"/>
            <a:ext cx="61976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latin typeface="Arial Rounded MT Bold" charset="0"/>
              </a:rPr>
              <a:t>.</a:t>
            </a:r>
            <a:r>
              <a:rPr lang="en-US" sz="1600" dirty="0">
                <a:latin typeface="Arial Rounded MT Bold" charset="0"/>
              </a:rPr>
              <a:t>Partitioning</a:t>
            </a:r>
          </a:p>
          <a:p>
            <a:pPr lvl="1"/>
            <a:r>
              <a:rPr lang="en-US" sz="2400" dirty="0">
                <a:latin typeface="Arial Rounded MT Bold" charset="0"/>
              </a:rPr>
              <a:t>.</a:t>
            </a:r>
            <a:r>
              <a:rPr lang="en-US" sz="1600" dirty="0">
                <a:latin typeface="Arial Rounded MT Bold" charset="0"/>
              </a:rPr>
              <a:t>Different OS can run on one physical machine</a:t>
            </a:r>
          </a:p>
          <a:p>
            <a:pPr lvl="1"/>
            <a:r>
              <a:rPr lang="en-US" sz="2400" dirty="0">
                <a:latin typeface="Arial Rounded MT Bold" charset="0"/>
              </a:rPr>
              <a:t>.</a:t>
            </a:r>
            <a:r>
              <a:rPr lang="en-US" sz="1600" dirty="0">
                <a:latin typeface="Arial Rounded MT Bold" charset="0"/>
              </a:rPr>
              <a:t>System resources can be divided between virtual machines</a:t>
            </a:r>
          </a:p>
        </p:txBody>
      </p:sp>
      <p:sp>
        <p:nvSpPr>
          <p:cNvPr id="34822" name="Rectangle 10"/>
          <p:cNvSpPr>
            <a:spLocks noChangeArrowheads="1"/>
          </p:cNvSpPr>
          <p:nvPr/>
        </p:nvSpPr>
        <p:spPr bwMode="gray">
          <a:xfrm>
            <a:off x="2346325" y="3017838"/>
            <a:ext cx="7040563"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75000"/>
              </a:spcBef>
              <a:buClr>
                <a:srgbClr val="0D53BE"/>
              </a:buClr>
              <a:buSzPct val="70000"/>
              <a:buFontTx/>
              <a:buChar char="•"/>
            </a:pPr>
            <a:r>
              <a:rPr lang="en-US" sz="1800">
                <a:latin typeface="Arial Rounded MT Bold" charset="0"/>
              </a:rPr>
              <a:t>Isolation</a:t>
            </a:r>
          </a:p>
          <a:p>
            <a:pPr marL="285750" lvl="1" indent="-166688">
              <a:spcBef>
                <a:spcPct val="20000"/>
              </a:spcBef>
              <a:buClr>
                <a:srgbClr val="0D53BE"/>
              </a:buClr>
              <a:buSzPct val="70000"/>
              <a:buFont typeface="Wingdings" charset="0"/>
              <a:buChar char=""/>
            </a:pPr>
            <a:r>
              <a:rPr lang="en-US" sz="1800">
                <a:latin typeface="Arial Rounded MT Bold" charset="0"/>
              </a:rPr>
              <a:t>Fault and security isolation on a hardware level</a:t>
            </a:r>
          </a:p>
          <a:p>
            <a:pPr marL="285750" lvl="1" indent="-166688">
              <a:spcBef>
                <a:spcPct val="20000"/>
              </a:spcBef>
              <a:buClr>
                <a:srgbClr val="0D53BE"/>
              </a:buClr>
              <a:buSzPct val="70000"/>
              <a:buFont typeface="Wingdings" charset="0"/>
              <a:buChar char=""/>
            </a:pPr>
            <a:r>
              <a:rPr lang="en-US" sz="1800">
                <a:latin typeface="Arial Rounded MT Bold" charset="0"/>
              </a:rPr>
              <a:t>Extended resource control for constant performance</a:t>
            </a:r>
          </a:p>
        </p:txBody>
      </p:sp>
      <p:sp>
        <p:nvSpPr>
          <p:cNvPr id="34823" name="Rectangle 11"/>
          <p:cNvSpPr>
            <a:spLocks noChangeArrowheads="1"/>
          </p:cNvSpPr>
          <p:nvPr/>
        </p:nvSpPr>
        <p:spPr bwMode="gray">
          <a:xfrm>
            <a:off x="2592388" y="4083050"/>
            <a:ext cx="5375275"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75000"/>
              </a:spcBef>
              <a:buClr>
                <a:srgbClr val="0D53BE"/>
              </a:buClr>
              <a:buSzPct val="70000"/>
              <a:buFontTx/>
              <a:buChar char="•"/>
            </a:pPr>
            <a:endParaRPr lang="en-US" sz="1600" dirty="0">
              <a:latin typeface="Arial Rounded MT Bold" charset="0"/>
            </a:endParaRPr>
          </a:p>
          <a:p>
            <a:pPr>
              <a:spcBef>
                <a:spcPct val="75000"/>
              </a:spcBef>
              <a:buClr>
                <a:srgbClr val="0D53BE"/>
              </a:buClr>
              <a:buSzPct val="70000"/>
              <a:buFontTx/>
              <a:buChar char="•"/>
            </a:pPr>
            <a:r>
              <a:rPr lang="en-US" sz="1600" dirty="0">
                <a:latin typeface="Arial Rounded MT Bold" charset="0"/>
              </a:rPr>
              <a:t>Encapsulation</a:t>
            </a:r>
          </a:p>
          <a:p>
            <a:pPr marL="285750" lvl="1" indent="-166688">
              <a:lnSpc>
                <a:spcPct val="85000"/>
              </a:lnSpc>
              <a:spcBef>
                <a:spcPct val="30000"/>
              </a:spcBef>
              <a:buClr>
                <a:srgbClr val="0D53BE"/>
              </a:buClr>
              <a:buSzPct val="70000"/>
              <a:buFont typeface="Wingdings" charset="0"/>
              <a:buChar char=""/>
            </a:pPr>
            <a:r>
              <a:rPr lang="en-US" sz="1600" dirty="0">
                <a:latin typeface="Arial Rounded MT Bold" charset="0"/>
              </a:rPr>
              <a:t>Complete status of a virtual machine can be stored in a file</a:t>
            </a:r>
          </a:p>
          <a:p>
            <a:pPr marL="285750" lvl="1" indent="-166688">
              <a:lnSpc>
                <a:spcPct val="85000"/>
              </a:lnSpc>
              <a:spcBef>
                <a:spcPct val="30000"/>
              </a:spcBef>
              <a:buClr>
                <a:srgbClr val="0D53BE"/>
              </a:buClr>
              <a:buSzPct val="70000"/>
              <a:buFont typeface="Wingdings" charset="0"/>
              <a:buChar char=""/>
            </a:pPr>
            <a:r>
              <a:rPr lang="en-US" sz="1600" dirty="0">
                <a:latin typeface="Arial Rounded MT Bold" charset="0"/>
              </a:rPr>
              <a:t>Move and copy of a virtual machine is as easy as it is with files</a:t>
            </a:r>
          </a:p>
        </p:txBody>
      </p:sp>
    </p:spTree>
    <p:extLst>
      <p:ext uri="{BB962C8B-B14F-4D97-AF65-F5344CB8AC3E}">
        <p14:creationId xmlns:p14="http://schemas.microsoft.com/office/powerpoint/2010/main" val="2767594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bwMode="auto">
          <a:xfrm>
            <a:off x="839731" y="751018"/>
            <a:ext cx="7024744" cy="764624"/>
          </a:xfrm>
          <a:ln>
            <a:miter lim="800000"/>
            <a:headEnd/>
            <a:tailEnd/>
          </a:ln>
        </p:spPr>
        <p:txBody>
          <a:bodyPr wrap="square" lIns="91440" tIns="45720" rIns="91440" bIns="45720" numCol="1" anchor="t" anchorCtr="0" compatLnSpc="1">
            <a:prstTxWarp prst="textNoShape">
              <a:avLst/>
            </a:prstTxWarp>
            <a:normAutofit fontScale="90000"/>
          </a:bodyPr>
          <a:lstStyle/>
          <a:p>
            <a:pPr eaLnBrk="1" hangingPunct="1">
              <a:defRPr/>
            </a:pPr>
            <a:r>
              <a:rPr lang="en-US" cap="none" dirty="0">
                <a:solidFill>
                  <a:schemeClr val="tx1"/>
                </a:solidFill>
                <a:effectLst>
                  <a:outerShdw blurRad="38100" dist="38100" dir="2700000" algn="tl">
                    <a:srgbClr val="DDDDDD"/>
                  </a:outerShdw>
                </a:effectLst>
                <a:latin typeface="Arial Rounded MT Bold" charset="0"/>
                <a:cs typeface="+mj-cs"/>
              </a:rPr>
              <a:t>SERVERS CONSOLIDATION</a:t>
            </a:r>
          </a:p>
        </p:txBody>
      </p:sp>
      <p:pic>
        <p:nvPicPr>
          <p:cNvPr id="35842" name="Picture 8"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3913" y="3582988"/>
            <a:ext cx="19716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3" name="Picture 9"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500" y="3994150"/>
            <a:ext cx="19716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10"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1850" y="4397375"/>
            <a:ext cx="19716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11"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263" y="4821238"/>
            <a:ext cx="19716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12" descr="RI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0738" y="1792288"/>
            <a:ext cx="1963737" cy="184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13"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5140325"/>
            <a:ext cx="19716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14"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2800" y="5576888"/>
            <a:ext cx="19716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Picture 15" descr="dl3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7088" y="1397000"/>
            <a:ext cx="19716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0" name="Rectangle 4"/>
          <p:cNvSpPr>
            <a:spLocks noChangeArrowheads="1"/>
          </p:cNvSpPr>
          <p:nvPr/>
        </p:nvSpPr>
        <p:spPr bwMode="auto">
          <a:xfrm>
            <a:off x="509588" y="2071688"/>
            <a:ext cx="48006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87000"/>
              </a:lnSpc>
              <a:buClr>
                <a:schemeClr val="tx2"/>
              </a:buClr>
              <a:buSzPct val="80000"/>
            </a:pPr>
            <a:r>
              <a:rPr lang="en-US" sz="2800">
                <a:latin typeface="Arial Rounded MT Bold" charset="0"/>
              </a:rPr>
              <a:t>110 Servers without VMware software</a:t>
            </a:r>
          </a:p>
        </p:txBody>
      </p:sp>
      <p:sp>
        <p:nvSpPr>
          <p:cNvPr id="35851" name="Rectangle 5"/>
          <p:cNvSpPr>
            <a:spLocks noChangeArrowheads="1"/>
          </p:cNvSpPr>
          <p:nvPr/>
        </p:nvSpPr>
        <p:spPr bwMode="auto">
          <a:xfrm>
            <a:off x="504825" y="3602038"/>
            <a:ext cx="48006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87000"/>
              </a:lnSpc>
              <a:buClr>
                <a:schemeClr val="tx2"/>
              </a:buClr>
              <a:buSzPct val="80000"/>
            </a:pPr>
            <a:r>
              <a:rPr lang="en-US" sz="2800">
                <a:latin typeface="Arial Rounded MT Bold" charset="0"/>
              </a:rPr>
              <a:t>12 Servers, 1 rack with VMware software</a:t>
            </a:r>
          </a:p>
        </p:txBody>
      </p:sp>
    </p:spTree>
    <p:extLst>
      <p:ext uri="{BB962C8B-B14F-4D97-AF65-F5344CB8AC3E}">
        <p14:creationId xmlns:p14="http://schemas.microsoft.com/office/powerpoint/2010/main" val="73911917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bwMode="auto">
          <a:xfrm>
            <a:off x="457200" y="274638"/>
            <a:ext cx="7467600" cy="738187"/>
          </a:xfrm>
          <a:ln>
            <a:miter lim="800000"/>
            <a:headEnd/>
            <a:tailEnd/>
          </a:ln>
        </p:spPr>
        <p:txBody>
          <a:bodyPr wrap="square" lIns="91440" tIns="45720" rIns="91440" bIns="45720" numCol="1" anchor="t" anchorCtr="0" compatLnSpc="1">
            <a:prstTxWarp prst="textNoShape">
              <a:avLst/>
            </a:prstTxWarp>
          </a:bodyPr>
          <a:lstStyle/>
          <a:p>
            <a:pPr eaLnBrk="1" hangingPunct="1">
              <a:defRPr/>
            </a:pPr>
            <a:r>
              <a:rPr lang="en-US" sz="3200" cap="none">
                <a:solidFill>
                  <a:schemeClr val="tx1"/>
                </a:solidFill>
                <a:effectLst>
                  <a:outerShdw blurRad="38100" dist="38100" dir="2700000" algn="tl">
                    <a:srgbClr val="DDDDDD"/>
                  </a:outerShdw>
                </a:effectLst>
                <a:latin typeface="Arial Rounded MT Bold" charset="0"/>
                <a:cs typeface="+mj-cs"/>
              </a:rPr>
              <a:t>VMWARE VMOTION</a:t>
            </a:r>
          </a:p>
        </p:txBody>
      </p:sp>
      <p:pic>
        <p:nvPicPr>
          <p:cNvPr id="36866" name="Picture 4" descr="VMotion tech"/>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617538" y="3690938"/>
            <a:ext cx="7146925" cy="2720975"/>
          </a:xfrm>
        </p:spPr>
      </p:pic>
      <p:sp>
        <p:nvSpPr>
          <p:cNvPr id="36867" name="Rectangle 5"/>
          <p:cNvSpPr>
            <a:spLocks noChangeArrowheads="1"/>
          </p:cNvSpPr>
          <p:nvPr/>
        </p:nvSpPr>
        <p:spPr bwMode="auto">
          <a:xfrm>
            <a:off x="0" y="1079500"/>
            <a:ext cx="91440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eaLnBrk="0" hangingPunct="0">
              <a:spcBef>
                <a:spcPct val="20000"/>
              </a:spcBef>
              <a:buSzPct val="80000"/>
              <a:buFont typeface="Wingdings" charset="0"/>
              <a:buChar char="§"/>
            </a:pPr>
            <a:r>
              <a:rPr lang="de-DE" sz="1800" dirty="0">
                <a:latin typeface="Arial Rounded MT Bold" charset="0"/>
              </a:rPr>
              <a:t>The </a:t>
            </a:r>
            <a:r>
              <a:rPr lang="de-DE" sz="1800" dirty="0" err="1">
                <a:latin typeface="Arial Rounded MT Bold" charset="0"/>
              </a:rPr>
              <a:t>VMotion</a:t>
            </a:r>
            <a:r>
              <a:rPr lang="de-DE" sz="1800" dirty="0">
                <a:latin typeface="Arial Rounded MT Bold" charset="0"/>
              </a:rPr>
              <a:t> </a:t>
            </a:r>
            <a:r>
              <a:rPr lang="de-DE" sz="1800" dirty="0" err="1">
                <a:latin typeface="Arial Rounded MT Bold" charset="0"/>
              </a:rPr>
              <a:t>technology</a:t>
            </a:r>
            <a:r>
              <a:rPr lang="de-DE" sz="1800" dirty="0">
                <a:latin typeface="Arial Rounded MT Bold" charset="0"/>
              </a:rPr>
              <a:t> </a:t>
            </a:r>
            <a:r>
              <a:rPr lang="de-DE" sz="1800" dirty="0" err="1">
                <a:latin typeface="Arial Rounded MT Bold" charset="0"/>
              </a:rPr>
              <a:t>allows</a:t>
            </a:r>
            <a:r>
              <a:rPr lang="de-DE" sz="1800" dirty="0">
                <a:latin typeface="Arial Rounded MT Bold" charset="0"/>
              </a:rPr>
              <a:t> </a:t>
            </a:r>
            <a:r>
              <a:rPr lang="de-DE" sz="1800" dirty="0" err="1">
                <a:latin typeface="Arial Rounded MT Bold" charset="0"/>
              </a:rPr>
              <a:t>the</a:t>
            </a:r>
            <a:r>
              <a:rPr lang="de-DE" sz="1800" dirty="0">
                <a:latin typeface="Arial Rounded MT Bold" charset="0"/>
              </a:rPr>
              <a:t> live </a:t>
            </a:r>
            <a:r>
              <a:rPr lang="de-DE" sz="1800" dirty="0" err="1">
                <a:latin typeface="Arial Rounded MT Bold" charset="0"/>
              </a:rPr>
              <a:t>migration</a:t>
            </a:r>
            <a:r>
              <a:rPr lang="de-DE" sz="1800" dirty="0">
                <a:latin typeface="Arial Rounded MT Bold" charset="0"/>
              </a:rPr>
              <a:t> </a:t>
            </a:r>
            <a:r>
              <a:rPr lang="de-DE" sz="1800" dirty="0" err="1">
                <a:latin typeface="Arial Rounded MT Bold" charset="0"/>
              </a:rPr>
              <a:t>of</a:t>
            </a:r>
            <a:r>
              <a:rPr lang="de-DE" sz="1800" dirty="0">
                <a:latin typeface="Arial Rounded MT Bold" charset="0"/>
              </a:rPr>
              <a:t> </a:t>
            </a:r>
            <a:r>
              <a:rPr lang="de-DE" sz="1800" dirty="0" err="1">
                <a:latin typeface="Arial Rounded MT Bold" charset="0"/>
              </a:rPr>
              <a:t>virtual</a:t>
            </a:r>
            <a:r>
              <a:rPr lang="de-DE" sz="1800" dirty="0">
                <a:latin typeface="Arial Rounded MT Bold" charset="0"/>
              </a:rPr>
              <a:t> </a:t>
            </a:r>
            <a:r>
              <a:rPr lang="de-DE" sz="1800" dirty="0" err="1" smtClean="0">
                <a:latin typeface="Arial Rounded MT Bold" charset="0"/>
              </a:rPr>
              <a:t>machines</a:t>
            </a:r>
            <a:endParaRPr lang="de-DE" sz="1800" dirty="0" smtClean="0">
              <a:latin typeface="Arial Rounded MT Bold" charset="0"/>
            </a:endParaRPr>
          </a:p>
          <a:p>
            <a:pPr lvl="1" eaLnBrk="0" hangingPunct="0">
              <a:spcBef>
                <a:spcPct val="20000"/>
              </a:spcBef>
              <a:buSzPct val="80000"/>
            </a:pPr>
            <a:r>
              <a:rPr lang="de-DE" sz="1800" dirty="0" smtClean="0">
                <a:latin typeface="Arial Rounded MT Bold" charset="0"/>
              </a:rPr>
              <a:t> </a:t>
            </a:r>
            <a:r>
              <a:rPr lang="de-DE" sz="1800" dirty="0" err="1">
                <a:latin typeface="Arial Rounded MT Bold" charset="0"/>
              </a:rPr>
              <a:t>from</a:t>
            </a:r>
            <a:r>
              <a:rPr lang="de-DE" sz="1800" dirty="0">
                <a:latin typeface="Arial Rounded MT Bold" charset="0"/>
              </a:rPr>
              <a:t> </a:t>
            </a:r>
            <a:r>
              <a:rPr lang="de-DE" sz="1800" dirty="0" err="1">
                <a:latin typeface="Arial Rounded MT Bold" charset="0"/>
              </a:rPr>
              <a:t>one</a:t>
            </a:r>
            <a:r>
              <a:rPr lang="de-DE" sz="1800" dirty="0">
                <a:latin typeface="Arial Rounded MT Bold" charset="0"/>
              </a:rPr>
              <a:t> </a:t>
            </a:r>
            <a:r>
              <a:rPr lang="de-DE" sz="1800" dirty="0" err="1">
                <a:latin typeface="Arial Rounded MT Bold" charset="0"/>
              </a:rPr>
              <a:t>physical</a:t>
            </a:r>
            <a:r>
              <a:rPr lang="de-DE" sz="1800" dirty="0">
                <a:latin typeface="Arial Rounded MT Bold" charset="0"/>
              </a:rPr>
              <a:t> </a:t>
            </a:r>
            <a:r>
              <a:rPr lang="de-DE" sz="1800" dirty="0" err="1">
                <a:latin typeface="Arial Rounded MT Bold" charset="0"/>
              </a:rPr>
              <a:t>server</a:t>
            </a:r>
            <a:r>
              <a:rPr lang="de-DE" sz="1800" dirty="0">
                <a:latin typeface="Arial Rounded MT Bold" charset="0"/>
              </a:rPr>
              <a:t> </a:t>
            </a:r>
            <a:r>
              <a:rPr lang="de-DE" sz="1800" dirty="0" err="1">
                <a:latin typeface="Arial Rounded MT Bold" charset="0"/>
              </a:rPr>
              <a:t>to</a:t>
            </a:r>
            <a:r>
              <a:rPr lang="de-DE" sz="1800" dirty="0">
                <a:latin typeface="Arial Rounded MT Bold" charset="0"/>
              </a:rPr>
              <a:t> </a:t>
            </a:r>
            <a:r>
              <a:rPr lang="de-DE" sz="1800" dirty="0" err="1">
                <a:latin typeface="Arial Rounded MT Bold" charset="0"/>
              </a:rPr>
              <a:t>another</a:t>
            </a:r>
            <a:r>
              <a:rPr lang="de-DE" sz="1800" dirty="0">
                <a:latin typeface="Arial Rounded MT Bold" charset="0"/>
              </a:rPr>
              <a:t> </a:t>
            </a:r>
            <a:r>
              <a:rPr lang="de-DE" sz="1800" dirty="0" err="1">
                <a:latin typeface="Arial Rounded MT Bold" charset="0"/>
              </a:rPr>
              <a:t>and</a:t>
            </a:r>
            <a:r>
              <a:rPr lang="de-DE" sz="1800" dirty="0">
                <a:latin typeface="Arial Rounded MT Bold" charset="0"/>
              </a:rPr>
              <a:t> </a:t>
            </a:r>
            <a:r>
              <a:rPr lang="de-DE" sz="1800" dirty="0" err="1">
                <a:latin typeface="Arial Rounded MT Bold" charset="0"/>
              </a:rPr>
              <a:t>needs</a:t>
            </a:r>
            <a:r>
              <a:rPr lang="de-DE" sz="1800" dirty="0">
                <a:latin typeface="Arial Rounded MT Bold" charset="0"/>
              </a:rPr>
              <a:t> </a:t>
            </a:r>
            <a:r>
              <a:rPr lang="de-DE" sz="1800" dirty="0" err="1">
                <a:latin typeface="Arial Rounded MT Bold" charset="0"/>
              </a:rPr>
              <a:t>therefore</a:t>
            </a:r>
            <a:r>
              <a:rPr lang="de-DE" sz="1800" dirty="0">
                <a:latin typeface="Arial Rounded MT Bold" charset="0"/>
              </a:rPr>
              <a:t> </a:t>
            </a:r>
            <a:r>
              <a:rPr lang="de-DE" sz="1800" dirty="0" err="1">
                <a:latin typeface="Arial Rounded MT Bold" charset="0"/>
              </a:rPr>
              <a:t>no</a:t>
            </a:r>
            <a:r>
              <a:rPr lang="de-DE" sz="1800" dirty="0">
                <a:latin typeface="Arial Rounded MT Bold" charset="0"/>
              </a:rPr>
              <a:t> </a:t>
            </a:r>
            <a:r>
              <a:rPr lang="de-DE" sz="1800" dirty="0" err="1">
                <a:latin typeface="Arial Rounded MT Bold" charset="0"/>
              </a:rPr>
              <a:t>downtime</a:t>
            </a:r>
            <a:r>
              <a:rPr lang="de-DE" sz="1800" dirty="0">
                <a:latin typeface="Arial Rounded MT Bold" charset="0"/>
              </a:rPr>
              <a:t> </a:t>
            </a:r>
            <a:r>
              <a:rPr lang="de-DE" sz="1800" dirty="0" err="1">
                <a:latin typeface="Arial Rounded MT Bold" charset="0"/>
              </a:rPr>
              <a:t>for</a:t>
            </a:r>
            <a:r>
              <a:rPr lang="de-DE" sz="1800" dirty="0">
                <a:latin typeface="Arial Rounded MT Bold" charset="0"/>
              </a:rPr>
              <a:t> </a:t>
            </a:r>
            <a:r>
              <a:rPr lang="de-DE" sz="1800" dirty="0" err="1">
                <a:latin typeface="Arial Rounded MT Bold" charset="0"/>
              </a:rPr>
              <a:t>maintenance</a:t>
            </a:r>
            <a:r>
              <a:rPr lang="de-DE" sz="1800" dirty="0">
                <a:latin typeface="Arial Rounded MT Bold" charset="0"/>
              </a:rPr>
              <a:t> </a:t>
            </a:r>
            <a:r>
              <a:rPr lang="de-DE" sz="1800" dirty="0" err="1">
                <a:latin typeface="Arial Rounded MT Bold" charset="0"/>
              </a:rPr>
              <a:t>activities</a:t>
            </a:r>
            <a:r>
              <a:rPr lang="de-DE" sz="1800" dirty="0">
                <a:latin typeface="Arial Rounded MT Bold" charset="0"/>
              </a:rPr>
              <a:t>.</a:t>
            </a:r>
            <a:r>
              <a:rPr lang="en-US" sz="1800" dirty="0">
                <a:latin typeface="Arial Rounded MT Bold" charset="0"/>
              </a:rPr>
              <a:t> </a:t>
            </a:r>
          </a:p>
          <a:p>
            <a:pPr lvl="1" eaLnBrk="0" hangingPunct="0">
              <a:spcBef>
                <a:spcPct val="20000"/>
              </a:spcBef>
              <a:buSzPct val="80000"/>
              <a:buFont typeface="Wingdings" charset="0"/>
              <a:buChar char="§"/>
            </a:pPr>
            <a:r>
              <a:rPr lang="en-US" sz="1800" dirty="0">
                <a:latin typeface="Arial Rounded MT Bold" charset="0"/>
              </a:rPr>
              <a:t>Move running applications to other servers without disruption. Zero downtime for hardware maintenance.</a:t>
            </a:r>
          </a:p>
          <a:p>
            <a:pPr lvl="1" eaLnBrk="0" hangingPunct="0">
              <a:spcBef>
                <a:spcPct val="20000"/>
              </a:spcBef>
              <a:buSzPct val="80000"/>
              <a:buFont typeface="Wingdings" charset="0"/>
              <a:buChar char="§"/>
            </a:pPr>
            <a:r>
              <a:rPr lang="en-US" sz="1800" dirty="0">
                <a:latin typeface="Arial Rounded MT Bold" charset="0"/>
              </a:rPr>
              <a:t>Automates moving virtual machines to other hosts and automates re-balancing </a:t>
            </a:r>
            <a:r>
              <a:rPr lang="en-US" sz="1800" dirty="0" smtClean="0">
                <a:latin typeface="Arial Rounded MT Bold" charset="0"/>
              </a:rPr>
              <a:t>after </a:t>
            </a:r>
            <a:r>
              <a:rPr lang="en-US" sz="1800" dirty="0">
                <a:latin typeface="Arial Rounded MT Bold" charset="0"/>
              </a:rPr>
              <a:t>maintenance complete</a:t>
            </a:r>
          </a:p>
          <a:p>
            <a:pPr lvl="1" eaLnBrk="0" hangingPunct="0">
              <a:spcBef>
                <a:spcPct val="20000"/>
              </a:spcBef>
              <a:buSzPct val="80000"/>
              <a:buFont typeface="Wingdings" charset="0"/>
              <a:buChar char="§"/>
            </a:pPr>
            <a:endParaRPr lang="en-US" sz="1600" b="1" dirty="0">
              <a:latin typeface="Arial Rounded MT Bold" charset="0"/>
            </a:endParaRPr>
          </a:p>
        </p:txBody>
      </p:sp>
      <p:sp>
        <p:nvSpPr>
          <p:cNvPr id="36868" name="TextBox 4"/>
          <p:cNvSpPr txBox="1">
            <a:spLocks noChangeArrowheads="1"/>
          </p:cNvSpPr>
          <p:nvPr/>
        </p:nvSpPr>
        <p:spPr bwMode="auto">
          <a:xfrm>
            <a:off x="1697038" y="517525"/>
            <a:ext cx="1841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charset="0"/>
                <a:ea typeface="ＭＳ Ｐゴシック" charset="0"/>
                <a:cs typeface="ＭＳ Ｐゴシック" charset="0"/>
              </a:defRPr>
            </a:lvl1pPr>
            <a:lvl2pPr marL="742950" indent="-285750" eaLnBrk="0" hangingPunct="0">
              <a:defRPr sz="900">
                <a:solidFill>
                  <a:schemeClr val="tx1"/>
                </a:solidFill>
                <a:latin typeface="Arial" charset="0"/>
                <a:ea typeface="ＭＳ Ｐゴシック" charset="0"/>
              </a:defRPr>
            </a:lvl2pPr>
            <a:lvl3pPr marL="1143000" indent="-228600" eaLnBrk="0" hangingPunct="0">
              <a:defRPr sz="900">
                <a:solidFill>
                  <a:schemeClr val="tx1"/>
                </a:solidFill>
                <a:latin typeface="Arial" charset="0"/>
                <a:ea typeface="ＭＳ Ｐゴシック" charset="0"/>
              </a:defRPr>
            </a:lvl3pPr>
            <a:lvl4pPr marL="1600200" indent="-228600" eaLnBrk="0" hangingPunct="0">
              <a:defRPr sz="900">
                <a:solidFill>
                  <a:schemeClr val="tx1"/>
                </a:solidFill>
                <a:latin typeface="Arial" charset="0"/>
                <a:ea typeface="ＭＳ Ｐゴシック" charset="0"/>
              </a:defRPr>
            </a:lvl4pPr>
            <a:lvl5pPr marL="2057400" indent="-228600" eaLnBrk="0" hangingPunct="0">
              <a:defRPr sz="900">
                <a:solidFill>
                  <a:schemeClr val="tx1"/>
                </a:solidFill>
                <a:latin typeface="Arial" charset="0"/>
                <a:ea typeface="ＭＳ Ｐゴシック" charset="0"/>
              </a:defRPr>
            </a:lvl5pPr>
            <a:lvl6pPr marL="2514600" indent="-228600" eaLnBrk="0" fontAlgn="base" hangingPunct="0">
              <a:spcBef>
                <a:spcPct val="0"/>
              </a:spcBef>
              <a:spcAft>
                <a:spcPct val="0"/>
              </a:spcAft>
              <a:defRPr sz="900">
                <a:solidFill>
                  <a:schemeClr val="tx1"/>
                </a:solidFill>
                <a:latin typeface="Arial" charset="0"/>
                <a:ea typeface="ＭＳ Ｐゴシック" charset="0"/>
              </a:defRPr>
            </a:lvl6pPr>
            <a:lvl7pPr marL="2971800" indent="-228600" eaLnBrk="0" fontAlgn="base" hangingPunct="0">
              <a:spcBef>
                <a:spcPct val="0"/>
              </a:spcBef>
              <a:spcAft>
                <a:spcPct val="0"/>
              </a:spcAft>
              <a:defRPr sz="900">
                <a:solidFill>
                  <a:schemeClr val="tx1"/>
                </a:solidFill>
                <a:latin typeface="Arial" charset="0"/>
                <a:ea typeface="ＭＳ Ｐゴシック" charset="0"/>
              </a:defRPr>
            </a:lvl7pPr>
            <a:lvl8pPr marL="3429000" indent="-228600" eaLnBrk="0" fontAlgn="base" hangingPunct="0">
              <a:spcBef>
                <a:spcPct val="0"/>
              </a:spcBef>
              <a:spcAft>
                <a:spcPct val="0"/>
              </a:spcAft>
              <a:defRPr sz="900">
                <a:solidFill>
                  <a:schemeClr val="tx1"/>
                </a:solidFill>
                <a:latin typeface="Arial" charset="0"/>
                <a:ea typeface="ＭＳ Ｐゴシック" charset="0"/>
              </a:defRPr>
            </a:lvl8pPr>
            <a:lvl9pPr marL="3886200" indent="-228600" eaLnBrk="0" fontAlgn="base" hangingPunct="0">
              <a:spcBef>
                <a:spcPct val="0"/>
              </a:spcBef>
              <a:spcAft>
                <a:spcPct val="0"/>
              </a:spcAft>
              <a:defRPr sz="900">
                <a:solidFill>
                  <a:schemeClr val="tx1"/>
                </a:solidFill>
                <a:latin typeface="Arial" charset="0"/>
                <a:ea typeface="ＭＳ Ｐゴシック" charset="0"/>
              </a:defRPr>
            </a:lvl9pPr>
          </a:lstStyle>
          <a:p>
            <a:pPr eaLnBrk="1" hangingPunct="1"/>
            <a:endParaRPr lang="en-US"/>
          </a:p>
        </p:txBody>
      </p:sp>
    </p:spTree>
    <p:extLst>
      <p:ext uri="{BB962C8B-B14F-4D97-AF65-F5344CB8AC3E}">
        <p14:creationId xmlns:p14="http://schemas.microsoft.com/office/powerpoint/2010/main" val="60805974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Operation System virtualization</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In </a:t>
            </a:r>
            <a:r>
              <a:rPr lang="en-US" dirty="0"/>
              <a:t>it the same </a:t>
            </a:r>
            <a:r>
              <a:rPr lang="en-US" dirty="0" smtClean="0"/>
              <a:t>operating </a:t>
            </a:r>
            <a:r>
              <a:rPr lang="en-US" dirty="0"/>
              <a:t>system, provides different execution environment for different concurrent applications. There is no hypervisor, all the application runs on same machines having one </a:t>
            </a:r>
            <a:r>
              <a:rPr lang="en-US" dirty="0" smtClean="0"/>
              <a:t>operating </a:t>
            </a:r>
            <a:r>
              <a:rPr lang="en-US" dirty="0"/>
              <a:t>system. Different applications share the resources and run concurrently as if running on different machines. A separate user space instance is created. This is provided by time-sharing operation system like UNIX. Different user space is provided to all users</a:t>
            </a:r>
            <a:r>
              <a:rPr lang="en-IN" dirty="0"/>
              <a:t> </a:t>
            </a:r>
            <a:endParaRPr lang="en-US" dirty="0"/>
          </a:p>
        </p:txBody>
      </p:sp>
    </p:spTree>
    <p:extLst>
      <p:ext uri="{BB962C8B-B14F-4D97-AF65-F5344CB8AC3E}">
        <p14:creationId xmlns:p14="http://schemas.microsoft.com/office/powerpoint/2010/main" val="357992524"/>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Programming Level Virtualization</a:t>
            </a:r>
            <a:endParaRPr lang="en-US" dirty="0"/>
          </a:p>
        </p:txBody>
      </p:sp>
      <p:sp>
        <p:nvSpPr>
          <p:cNvPr id="3" name="Content Placeholder 2"/>
          <p:cNvSpPr>
            <a:spLocks noGrp="1"/>
          </p:cNvSpPr>
          <p:nvPr>
            <p:ph idx="1"/>
          </p:nvPr>
        </p:nvSpPr>
        <p:spPr/>
        <p:txBody>
          <a:bodyPr/>
          <a:lstStyle/>
          <a:p>
            <a:r>
              <a:rPr lang="en-US" dirty="0" smtClean="0"/>
              <a:t>In </a:t>
            </a:r>
            <a:r>
              <a:rPr lang="en-US" dirty="0"/>
              <a:t>it the code of program is complied for a Virtual machine not for machine code </a:t>
            </a:r>
            <a:r>
              <a:rPr lang="en-US" dirty="0" err="1"/>
              <a:t>eg</a:t>
            </a:r>
            <a:r>
              <a:rPr lang="en-US" dirty="0"/>
              <a:t>. Java.</a:t>
            </a:r>
            <a:r>
              <a:rPr lang="en-IN" dirty="0"/>
              <a:t> </a:t>
            </a:r>
            <a:endParaRPr lang="en-US" dirty="0"/>
          </a:p>
        </p:txBody>
      </p:sp>
    </p:spTree>
    <p:extLst>
      <p:ext uri="{BB962C8B-B14F-4D97-AF65-F5344CB8AC3E}">
        <p14:creationId xmlns:p14="http://schemas.microsoft.com/office/powerpoint/2010/main" val="1659456731"/>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 Level Virtualization</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Application Level Virtualization allows application to be run on run time environment, which natively do not support all the features required by such application. It allows running application on one operating system, which actually does not support that application. It allows executing a program, compiled for different network. This is done at operating system level by emulation, using a thin log on program or operating system components </a:t>
            </a:r>
            <a:r>
              <a:rPr lang="en-US" dirty="0" err="1"/>
              <a:t>eg</a:t>
            </a:r>
            <a:r>
              <a:rPr lang="en-US" dirty="0"/>
              <a:t>. Cross over provides facility to run windows application on Mac operating system.</a:t>
            </a:r>
            <a:r>
              <a:rPr lang="en-IN" dirty="0"/>
              <a:t> </a:t>
            </a:r>
            <a:endParaRPr lang="en-US" dirty="0"/>
          </a:p>
        </p:txBody>
      </p:sp>
    </p:spTree>
    <p:extLst>
      <p:ext uri="{BB962C8B-B14F-4D97-AF65-F5344CB8AC3E}">
        <p14:creationId xmlns:p14="http://schemas.microsoft.com/office/powerpoint/2010/main" val="3241178425"/>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a:t>
            </a:r>
            <a:endParaRPr lang="en-US" dirty="0"/>
          </a:p>
        </p:txBody>
      </p:sp>
      <p:sp>
        <p:nvSpPr>
          <p:cNvPr id="3" name="Content Placeholder 2"/>
          <p:cNvSpPr>
            <a:spLocks noGrp="1"/>
          </p:cNvSpPr>
          <p:nvPr>
            <p:ph idx="1"/>
          </p:nvPr>
        </p:nvSpPr>
        <p:spPr/>
        <p:txBody>
          <a:bodyPr/>
          <a:lstStyle/>
          <a:p>
            <a:pPr algn="just"/>
            <a:r>
              <a:rPr lang="en-US" dirty="0"/>
              <a:t>In this type of virtualization basic focus is on storage of the data. User can have access to unlimited amount of storage without even worrying about their actual location. Data is accessed by logical address or path. Google drive, Drop-box are examples of this category</a:t>
            </a:r>
            <a:r>
              <a:rPr lang="en-IN" dirty="0"/>
              <a:t> </a:t>
            </a:r>
            <a:endParaRPr lang="en-US" dirty="0"/>
          </a:p>
        </p:txBody>
      </p:sp>
    </p:spTree>
    <p:extLst>
      <p:ext uri="{BB962C8B-B14F-4D97-AF65-F5344CB8AC3E}">
        <p14:creationId xmlns:p14="http://schemas.microsoft.com/office/powerpoint/2010/main" val="2613287758"/>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
            </a:r>
            <a:endParaRPr lang="en-US" dirty="0"/>
          </a:p>
        </p:txBody>
      </p:sp>
      <p:sp>
        <p:nvSpPr>
          <p:cNvPr id="3" name="Content Placeholder 2"/>
          <p:cNvSpPr>
            <a:spLocks noGrp="1"/>
          </p:cNvSpPr>
          <p:nvPr>
            <p:ph idx="1"/>
          </p:nvPr>
        </p:nvSpPr>
        <p:spPr/>
        <p:txBody>
          <a:bodyPr>
            <a:normAutofit fontScale="92500"/>
          </a:bodyPr>
          <a:lstStyle/>
          <a:p>
            <a:pPr algn="just"/>
            <a:r>
              <a:rPr lang="en-US" dirty="0"/>
              <a:t>It can be grouped in two categories. Internal and External. In External Network Virtualization a virtual LAN (VLAN) is created, it gives capability of real network. It is a combination of Hardware appliances and some soft-wares for network virtualization. The groups of hosts make a VLAN that communicate with each other as if they are in real LAN. In Internal Network Virtualization, network facility is provided by Operating System.</a:t>
            </a:r>
            <a:endParaRPr lang="en-IN" dirty="0"/>
          </a:p>
          <a:p>
            <a:endParaRPr lang="en-US" dirty="0"/>
          </a:p>
        </p:txBody>
      </p:sp>
    </p:spTree>
    <p:extLst>
      <p:ext uri="{BB962C8B-B14F-4D97-AF65-F5344CB8AC3E}">
        <p14:creationId xmlns:p14="http://schemas.microsoft.com/office/powerpoint/2010/main" val="1885115175"/>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Hypervisors</a:t>
            </a:r>
            <a:endParaRPr lang="en-US" dirty="0"/>
          </a:p>
        </p:txBody>
      </p:sp>
      <p:sp>
        <p:nvSpPr>
          <p:cNvPr id="3" name="Content Placeholder 2"/>
          <p:cNvSpPr>
            <a:spLocks noGrp="1"/>
          </p:cNvSpPr>
          <p:nvPr>
            <p:ph idx="1"/>
          </p:nvPr>
        </p:nvSpPr>
        <p:spPr/>
        <p:txBody>
          <a:bodyPr>
            <a:normAutofit fontScale="40000" lnSpcReduction="20000"/>
          </a:bodyPr>
          <a:lstStyle/>
          <a:p>
            <a:r>
              <a:rPr lang="en-US" sz="3300" dirty="0" err="1"/>
              <a:t>Xen</a:t>
            </a:r>
            <a:r>
              <a:rPr lang="en-US" sz="3300" dirty="0"/>
              <a:t/>
            </a:r>
            <a:br>
              <a:rPr lang="en-US" sz="3300" dirty="0"/>
            </a:br>
            <a:r>
              <a:rPr lang="en-US" sz="3300" dirty="0" smtClean="0"/>
              <a:t> </a:t>
            </a:r>
            <a:r>
              <a:rPr lang="en-US" sz="3300" dirty="0"/>
              <a:t>Developed by </a:t>
            </a:r>
            <a:r>
              <a:rPr lang="en-US" sz="3300" dirty="0" err="1"/>
              <a:t>Xen</a:t>
            </a:r>
            <a:r>
              <a:rPr lang="en-US" sz="3300" dirty="0"/>
              <a:t> Project Team in 2003. &gt; Runs on Linux, BSD, Solaris. </a:t>
            </a:r>
          </a:p>
          <a:p>
            <a:r>
              <a:rPr lang="en-US" sz="3300" dirty="0" smtClean="0"/>
              <a:t>KVM </a:t>
            </a:r>
            <a:endParaRPr lang="en-US" sz="3300" dirty="0"/>
          </a:p>
          <a:p>
            <a:r>
              <a:rPr lang="en-US" sz="3300" dirty="0" smtClean="0"/>
              <a:t>Developed </a:t>
            </a:r>
            <a:r>
              <a:rPr lang="en-US" sz="3300" dirty="0"/>
              <a:t>by OVA(Open Virtualization Alliance) and released in 2012. </a:t>
            </a:r>
          </a:p>
          <a:p>
            <a:pPr marL="68580" indent="0">
              <a:buNone/>
            </a:pPr>
            <a:r>
              <a:rPr lang="en-US" sz="3300" dirty="0"/>
              <a:t> </a:t>
            </a:r>
            <a:r>
              <a:rPr lang="en-US" sz="3300" dirty="0" smtClean="0"/>
              <a:t>     Supports </a:t>
            </a:r>
            <a:r>
              <a:rPr lang="en-US" sz="3300" dirty="0"/>
              <a:t>many of Linux, BSD, Solaris, Windows, </a:t>
            </a:r>
            <a:r>
              <a:rPr lang="en-US" sz="3300" dirty="0" err="1"/>
              <a:t>ReactOS</a:t>
            </a:r>
            <a:r>
              <a:rPr lang="en-US" sz="3300" dirty="0"/>
              <a:t>, and AROS Research </a:t>
            </a:r>
            <a:r>
              <a:rPr lang="en-US" sz="3300" dirty="0" smtClean="0"/>
              <a:t> </a:t>
            </a:r>
          </a:p>
          <a:p>
            <a:pPr marL="68580" indent="0">
              <a:buNone/>
            </a:pPr>
            <a:r>
              <a:rPr lang="en-US" sz="3300" dirty="0"/>
              <a:t> </a:t>
            </a:r>
            <a:r>
              <a:rPr lang="en-US" sz="3300" dirty="0" smtClean="0"/>
              <a:t>     Operating </a:t>
            </a:r>
            <a:r>
              <a:rPr lang="en-US" sz="3300" dirty="0"/>
              <a:t>System. </a:t>
            </a:r>
          </a:p>
          <a:p>
            <a:r>
              <a:rPr lang="en-US" sz="3300" dirty="0" smtClean="0"/>
              <a:t>QEMU</a:t>
            </a:r>
            <a:r>
              <a:rPr lang="en-US" sz="3300" dirty="0"/>
              <a:t/>
            </a:r>
            <a:br>
              <a:rPr lang="en-US" sz="3300" dirty="0"/>
            </a:br>
            <a:r>
              <a:rPr lang="en-US" sz="3300" dirty="0" smtClean="0"/>
              <a:t> </a:t>
            </a:r>
            <a:r>
              <a:rPr lang="en-US" sz="3300" dirty="0"/>
              <a:t>Open-Source, developed by QEMU Team.</a:t>
            </a:r>
            <a:br>
              <a:rPr lang="en-US" sz="3300" dirty="0"/>
            </a:br>
            <a:r>
              <a:rPr lang="en-US" sz="3300" dirty="0" smtClean="0"/>
              <a:t> </a:t>
            </a:r>
            <a:r>
              <a:rPr lang="en-US" sz="3300" dirty="0"/>
              <a:t>Runs on Linux, Windows, and some UNIX Platforms. </a:t>
            </a:r>
          </a:p>
          <a:p>
            <a:r>
              <a:rPr lang="en-US" sz="3300" dirty="0" smtClean="0"/>
              <a:t>Virtual Box</a:t>
            </a:r>
            <a:r>
              <a:rPr lang="en-US" sz="3300" dirty="0"/>
              <a:t/>
            </a:r>
            <a:br>
              <a:rPr lang="en-US" sz="3300" dirty="0"/>
            </a:br>
            <a:r>
              <a:rPr lang="en-US" sz="3300" dirty="0" smtClean="0"/>
              <a:t>Developed </a:t>
            </a:r>
            <a:r>
              <a:rPr lang="en-US" sz="3300" dirty="0"/>
              <a:t>by Oracle Corporation in 2007.</a:t>
            </a:r>
            <a:br>
              <a:rPr lang="en-US" sz="3300" dirty="0"/>
            </a:br>
            <a:r>
              <a:rPr lang="en-US" sz="3300" dirty="0" smtClean="0"/>
              <a:t>Runs </a:t>
            </a:r>
            <a:r>
              <a:rPr lang="en-US" sz="3300" dirty="0"/>
              <a:t>on Linux, Mac OS X, Windows(from XP), Solaris, and </a:t>
            </a:r>
            <a:r>
              <a:rPr lang="en-US" sz="3300" dirty="0" err="1"/>
              <a:t>OpenSolaris</a:t>
            </a:r>
            <a:r>
              <a:rPr lang="en-US" sz="3300" dirty="0"/>
              <a:t> </a:t>
            </a:r>
          </a:p>
          <a:p>
            <a:r>
              <a:rPr lang="en-US" sz="3300" dirty="0" smtClean="0"/>
              <a:t>VM Ware</a:t>
            </a:r>
            <a:r>
              <a:rPr lang="en-US" sz="3300" dirty="0"/>
              <a:t/>
            </a:r>
            <a:br>
              <a:rPr lang="en-US" sz="3300" dirty="0"/>
            </a:br>
            <a:r>
              <a:rPr lang="en-US" sz="3300" dirty="0" smtClean="0"/>
              <a:t>Developed </a:t>
            </a:r>
            <a:r>
              <a:rPr lang="en-US" sz="3300" dirty="0"/>
              <a:t>by </a:t>
            </a:r>
            <a:r>
              <a:rPr lang="en-US" sz="3300" dirty="0" err="1"/>
              <a:t>VMWare</a:t>
            </a:r>
            <a:r>
              <a:rPr lang="en-US" sz="3300" dirty="0" smtClean="0"/>
              <a:t>. </a:t>
            </a:r>
            <a:r>
              <a:rPr lang="en-US" sz="3300" dirty="0" err="1" smtClean="0"/>
              <a:t>inc</a:t>
            </a:r>
            <a:r>
              <a:rPr lang="en-US" sz="3300" dirty="0" smtClean="0"/>
              <a:t> </a:t>
            </a:r>
            <a:r>
              <a:rPr lang="en-US" sz="3300" dirty="0"/>
              <a:t>in 1997 &gt;Runs on Windows, Linux, Mac OS X </a:t>
            </a:r>
          </a:p>
          <a:p>
            <a:endParaRPr lang="en-US" dirty="0"/>
          </a:p>
        </p:txBody>
      </p:sp>
    </p:spTree>
    <p:extLst>
      <p:ext uri="{BB962C8B-B14F-4D97-AF65-F5344CB8AC3E}">
        <p14:creationId xmlns:p14="http://schemas.microsoft.com/office/powerpoint/2010/main" val="1893104108"/>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een_thanks.tiff"/>
          <p:cNvPicPr>
            <a:picLocks noGrp="1" noChangeAspect="1"/>
          </p:cNvPicPr>
          <p:nvPr>
            <p:ph idx="1"/>
          </p:nvPr>
        </p:nvPicPr>
        <p:blipFill>
          <a:blip r:embed="rId2">
            <a:extLst>
              <a:ext uri="{28A0092B-C50C-407E-A947-70E740481C1C}">
                <a14:useLocalDpi xmlns:a14="http://schemas.microsoft.com/office/drawing/2010/main" val="0"/>
              </a:ext>
            </a:extLst>
          </a:blip>
          <a:srcRect l="2073" r="2073"/>
          <a:stretch>
            <a:fillRect/>
          </a:stretch>
        </p:blipFill>
        <p:spPr>
          <a:xfrm>
            <a:off x="737392" y="709612"/>
            <a:ext cx="7251019" cy="5298391"/>
          </a:xfrm>
        </p:spPr>
      </p:pic>
    </p:spTree>
    <p:extLst>
      <p:ext uri="{BB962C8B-B14F-4D97-AF65-F5344CB8AC3E}">
        <p14:creationId xmlns:p14="http://schemas.microsoft.com/office/powerpoint/2010/main" val="325296159"/>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Austin.thmx</Template>
  <TotalTime>340</TotalTime>
  <Words>1598</Words>
  <Application>Microsoft Macintosh PowerPoint</Application>
  <PresentationFormat>On-screen Show (4:3)</PresentationFormat>
  <Paragraphs>166</Paragraphs>
  <Slides>42</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4" baseType="lpstr">
      <vt:lpstr>Austin</vt:lpstr>
      <vt:lpstr>Image</vt:lpstr>
      <vt:lpstr>Virtualization </vt:lpstr>
      <vt:lpstr>Virtualization</vt:lpstr>
      <vt:lpstr>Definition  </vt:lpstr>
      <vt:lpstr>PowerPoint Presentation</vt:lpstr>
      <vt:lpstr>Virtualization:Abstraction</vt:lpstr>
      <vt:lpstr>PowerPoint Presentation</vt:lpstr>
      <vt:lpstr>Greener Approach</vt:lpstr>
      <vt:lpstr>Need for  Virtualization </vt:lpstr>
      <vt:lpstr>Need…</vt:lpstr>
      <vt:lpstr>Virtualization Gave..</vt:lpstr>
      <vt:lpstr>PowerPoint Presentation</vt:lpstr>
      <vt:lpstr>Benefits of Virtualization</vt:lpstr>
      <vt:lpstr>Cloud Computing - Green - PUE</vt:lpstr>
      <vt:lpstr>Cloud Computing and Green IT</vt:lpstr>
      <vt:lpstr>Cost Reduction Example</vt:lpstr>
      <vt:lpstr>Cost Reduction Example</vt:lpstr>
      <vt:lpstr>Types</vt:lpstr>
      <vt:lpstr>Execution</vt:lpstr>
      <vt:lpstr>Hardware Virtualization</vt:lpstr>
      <vt:lpstr>PowerPoint Presentation</vt:lpstr>
      <vt:lpstr>Hypervisor</vt:lpstr>
      <vt:lpstr>The Hypervisor</vt:lpstr>
      <vt:lpstr>The Hypervisor</vt:lpstr>
      <vt:lpstr>PowerPoint Presentation</vt:lpstr>
      <vt:lpstr>Types of Hypervisor </vt:lpstr>
      <vt:lpstr>PowerPoint Presentation</vt:lpstr>
      <vt:lpstr>PowerPoint Presentation</vt:lpstr>
      <vt:lpstr>Hardware Virtualization Types</vt:lpstr>
      <vt:lpstr>PowerPoint Presentation</vt:lpstr>
      <vt:lpstr>PowerPoint Presentation</vt:lpstr>
      <vt:lpstr>PowerPoint Presentation</vt:lpstr>
      <vt:lpstr>PowerPoint Presentation</vt:lpstr>
      <vt:lpstr>KEY FEATURES </vt:lpstr>
      <vt:lpstr>SERVERS CONSOLIDATION</vt:lpstr>
      <vt:lpstr>VMWARE VMOTION</vt:lpstr>
      <vt:lpstr>Operation System virtualization</vt:lpstr>
      <vt:lpstr>Programming Level Virtualization</vt:lpstr>
      <vt:lpstr>Application Level Virtualization</vt:lpstr>
      <vt:lpstr>Storage</vt:lpstr>
      <vt:lpstr>Network</vt:lpstr>
      <vt:lpstr>Common Hypervisors</vt:lpstr>
      <vt:lpstr>PowerPoint Presentation</vt:lpstr>
    </vt:vector>
  </TitlesOfParts>
  <Company>GKV</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 </dc:title>
  <dc:creator>Dr. Mayank</dc:creator>
  <cp:lastModifiedBy>Dr. Mayank</cp:lastModifiedBy>
  <cp:revision>36</cp:revision>
  <dcterms:created xsi:type="dcterms:W3CDTF">2015-02-14T06:09:10Z</dcterms:created>
  <dcterms:modified xsi:type="dcterms:W3CDTF">2016-08-27T05:44:44Z</dcterms:modified>
</cp:coreProperties>
</file>